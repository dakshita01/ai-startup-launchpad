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755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72FF5-1848-EAD7-EFB8-C9FD4C38E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7091BE-361A-61DA-AB84-4A332ECF4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8F035-58A8-8293-2A3F-7F666AA35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2A262-3C92-3358-1828-743364A217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08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6977" y="-2073402"/>
            <a:ext cx="6400800" cy="6400800"/>
          </a:xfrm>
          <a:prstGeom prst="ellipse">
            <a:avLst/>
          </a:prstGeom>
          <a:solidFill>
            <a:srgbClr val="7C5CF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5B3FD9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8620" y="429768"/>
            <a:ext cx="127127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1996598" y="441198"/>
            <a:ext cx="1271269" cy="8572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9966960" y="1298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SkillsBuild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5705792" y="1618488"/>
            <a:ext cx="777240" cy="7772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705792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10" dirty="0"/>
          </a:p>
        </p:txBody>
      </p:sp>
      <p:sp>
        <p:nvSpPr>
          <p:cNvPr id="13" name="Text 8"/>
          <p:cNvSpPr txBox="1"/>
          <p:nvPr/>
        </p:nvSpPr>
        <p:spPr>
          <a:xfrm>
            <a:off x="731520" y="265176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AETHERMINDS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731520" y="297180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STARTUP LAUNCHPAD</a:t>
            </a:r>
            <a:endParaRPr lang="en-US" sz="40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3767328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raw startup idea into a structured, investor-ready analysis — in seconds.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4315968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— IBM SkillsBuild Gen AI &amp; Cloud Computing Internship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35508" y="4892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63524" y="5097780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Dakshita Biwal</a:t>
            </a: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24EACCS077 / CSE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763524" y="541782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· Backend &amp; Deployment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3406140" y="4892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3534156" y="5099685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Raunak Mishra</a:t>
            </a: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24EACCS657 / CSE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3534156" y="540943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 &amp; UI/UX</a:t>
            </a:r>
            <a:endParaRPr lang="en-US" sz="930" dirty="0"/>
          </a:p>
        </p:txBody>
      </p:sp>
      <p:sp>
        <p:nvSpPr>
          <p:cNvPr id="23" name="Shape 18"/>
          <p:cNvSpPr/>
          <p:nvPr/>
        </p:nvSpPr>
        <p:spPr>
          <a:xfrm>
            <a:off x="6176772" y="4892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304788" y="5102352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Singh</a:t>
            </a: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24EACAD005 / AIDS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6291072" y="540639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Documentation</a:t>
            </a:r>
            <a:endParaRPr lang="en-US" sz="930" dirty="0"/>
          </a:p>
        </p:txBody>
      </p:sp>
      <p:sp>
        <p:nvSpPr>
          <p:cNvPr id="26" name="Shape 21"/>
          <p:cNvSpPr/>
          <p:nvPr/>
        </p:nvSpPr>
        <p:spPr>
          <a:xfrm>
            <a:off x="8947404" y="4892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075420" y="5102352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Chanda Kumari</a:t>
            </a: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24EACCS072 / CSE</a:t>
            </a:r>
            <a:endParaRPr lang="en-US" sz="1350" dirty="0"/>
          </a:p>
        </p:txBody>
      </p:sp>
      <p:sp>
        <p:nvSpPr>
          <p:cNvPr id="28" name="Text 23"/>
          <p:cNvSpPr txBox="1"/>
          <p:nvPr/>
        </p:nvSpPr>
        <p:spPr>
          <a:xfrm>
            <a:off x="9075420" y="5388864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Content &amp; Presentation</a:t>
            </a:r>
            <a:endParaRPr lang="en-US" sz="930" dirty="0"/>
          </a:p>
        </p:txBody>
      </p:sp>
      <p:sp>
        <p:nvSpPr>
          <p:cNvPr id="29" name="Text 24"/>
          <p:cNvSpPr txBox="1"/>
          <p:nvPr/>
        </p:nvSpPr>
        <p:spPr>
          <a:xfrm>
            <a:off x="1371600" y="6172200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B8D1D42-0749-7E67-DC2A-ABD18CFAF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621" y="502208"/>
            <a:ext cx="643255" cy="674083"/>
          </a:xfrm>
          <a:prstGeom prst="rect">
            <a:avLst/>
          </a:prstGeom>
        </p:spPr>
      </p:pic>
      <p:sp>
        <p:nvSpPr>
          <p:cNvPr id="37" name="Shape 3">
            <a:extLst>
              <a:ext uri="{FF2B5EF4-FFF2-40B4-BE49-F238E27FC236}">
                <a16:creationId xmlns:a16="http://schemas.microsoft.com/office/drawing/2014/main" id="{D600F008-AE25-87DB-09B6-FE1599E5A31A}"/>
              </a:ext>
            </a:extLst>
          </p:cNvPr>
          <p:cNvSpPr/>
          <p:nvPr/>
        </p:nvSpPr>
        <p:spPr>
          <a:xfrm>
            <a:off x="10528936" y="445770"/>
            <a:ext cx="1271269" cy="8572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54BD6B5D-C985-70FC-9E5E-9839980EBD6B}"/>
              </a:ext>
            </a:extLst>
          </p:cNvPr>
          <p:cNvSpPr/>
          <p:nvPr/>
        </p:nvSpPr>
        <p:spPr>
          <a:xfrm>
            <a:off x="8818310" y="472059"/>
            <a:ext cx="1373917" cy="8572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pic>
        <p:nvPicPr>
          <p:cNvPr id="41" name="Image 2" descr="/home/claude/ibm_logo.png">
            <a:extLst>
              <a:ext uri="{FF2B5EF4-FFF2-40B4-BE49-F238E27FC236}">
                <a16:creationId xmlns:a16="http://schemas.microsoft.com/office/drawing/2014/main" id="{19DDF4F3-B057-DB1E-D474-9130FC4D6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4580" y="660654"/>
            <a:ext cx="2371249" cy="60807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D9914C4-2E56-9CB3-3CB6-E770227C2E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33" y="581178"/>
            <a:ext cx="1271269" cy="657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68ABE5-4EC8-8585-ED78-B6B2EFB1A7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49" y="526353"/>
            <a:ext cx="723052" cy="6624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70048" cy="1508760"/>
          </a:xfrm>
          <a:prstGeom prst="roundRect">
            <a:avLst>
              <a:gd name="adj" fmla="val 4848"/>
            </a:avLst>
          </a:prstGeom>
          <a:solidFill>
            <a:srgbClr val="EDE9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110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86584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Internship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BharatCares × IBM SkillsBuild journey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01568" y="1783080"/>
            <a:ext cx="2670048" cy="1508760"/>
          </a:xfrm>
          <a:prstGeom prst="roundRect">
            <a:avLst>
              <a:gd name="adj" fmla="val 4848"/>
            </a:avLst>
          </a:prstGeom>
          <a:solidFill>
            <a:srgbClr val="EDE9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4448" y="19110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386584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6974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founders struggle to structure an idea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54496" y="1783080"/>
            <a:ext cx="2670048" cy="1508760"/>
          </a:xfrm>
          <a:prstGeom prst="roundRect">
            <a:avLst>
              <a:gd name="adj" fmla="val 4848"/>
            </a:avLst>
          </a:prstGeom>
          <a:solidFill>
            <a:srgbClr val="EDE9F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37376" y="19110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2386584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26974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Startup Launchpad solves 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07424" y="1783080"/>
            <a:ext cx="2670048" cy="1508760"/>
          </a:xfrm>
          <a:prstGeom prst="roundRect">
            <a:avLst>
              <a:gd name="adj" fmla="val 4848"/>
            </a:avLst>
          </a:prstGeom>
          <a:solidFill>
            <a:srgbClr val="EDE9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90304" y="19110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290304" y="2386584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6974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architecture &amp; screenshots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2670048" cy="1508760"/>
          </a:xfrm>
          <a:prstGeom prst="roundRect">
            <a:avLst>
              <a:gd name="adj" fmla="val 4848"/>
            </a:avLst>
          </a:prstGeom>
          <a:solidFill>
            <a:srgbClr val="EDE9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6484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123944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4348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decisions we made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01568" y="3520440"/>
            <a:ext cx="2670048" cy="1508760"/>
          </a:xfrm>
          <a:prstGeom prst="roundRect">
            <a:avLst>
              <a:gd name="adj" fmla="val 4848"/>
            </a:avLst>
          </a:prstGeom>
          <a:solidFill>
            <a:srgbClr val="EDE9F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584448" y="36484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3584448" y="4123944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3584448" y="44348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contributions &amp; what we learned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54496" y="3520440"/>
            <a:ext cx="2670048" cy="1508760"/>
          </a:xfrm>
          <a:prstGeom prst="roundRect">
            <a:avLst>
              <a:gd name="adj" fmla="val 4848"/>
            </a:avLst>
          </a:prstGeom>
          <a:solidFill>
            <a:srgbClr val="EDE9F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37376" y="36484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6437376" y="4123944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6437376" y="44348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roadmap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Internship Journey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of us completed the BharatCares 6-week ‘IBM SkillsBuild Gen AI &amp; Cloud Computing Internship’, conducted from 22nd June 2026 to 31st July 2026, in association with the All India Council for Technical Education (AICTE) and IBM SkillsBuild.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300984"/>
            <a:ext cx="109728" cy="10972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1546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of structured, hands-on Generative AI &amp; Cloud training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867912"/>
            <a:ext cx="109728" cy="10972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2160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exposure to AI fundamentals, prompt engineering &amp; cloud basics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109728" cy="10972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28853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our practical submission for the internship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ASSOCIATION WITH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11270DD-7893-463F-82EA-582F51104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77840"/>
            <a:ext cx="1271269" cy="657250"/>
          </a:xfrm>
          <a:prstGeom prst="rect">
            <a:avLst/>
          </a:prstGeom>
        </p:spPr>
      </p:pic>
      <p:pic>
        <p:nvPicPr>
          <p:cNvPr id="21" name="Image 2" descr="/home/claude/ibm_logo.png">
            <a:extLst>
              <a:ext uri="{FF2B5EF4-FFF2-40B4-BE49-F238E27FC236}">
                <a16:creationId xmlns:a16="http://schemas.microsoft.com/office/drawing/2014/main" id="{51431157-99F0-64C7-90D1-C89288705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160" y="5694426"/>
            <a:ext cx="2371249" cy="6080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9ED8121-C9D6-7A9A-88F4-12B5C0E7F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7907" y="5561007"/>
            <a:ext cx="643255" cy="67408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102E445-C7A5-012B-F1D4-1C8E8BA6BA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645" y="384048"/>
            <a:ext cx="4777273" cy="59184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Good Idea Isn't the Same as a Structured Pitch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founders — especially first-time founders, students, and hackathon participants — usually have a strong intuition for a problem worth solving. What they lack is the structured language investors, mentors, and reviewers expect.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392424"/>
            <a:ext cx="109728" cy="10972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26440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lose time formatting instead of validating substance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959352"/>
            <a:ext cx="109728" cy="10972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83133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templates give structure — but zero content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09728" cy="10972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39826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chatbots give content — but no consistent structure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093208"/>
            <a:ext cx="109728" cy="10972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96519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spend more time decoding notes than judging ideas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86600" y="1828800"/>
            <a:ext cx="4526280" cy="1691640"/>
          </a:xfrm>
          <a:prstGeom prst="roundRect">
            <a:avLst>
              <a:gd name="adj" fmla="val 4324"/>
            </a:avLst>
          </a:prstGeom>
          <a:solidFill>
            <a:srgbClr val="FBEA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60920" y="1993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TEMPLATE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3042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✓     Content ✗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26974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still stuck — just inside labeled boxes instead of a blank page.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86600" y="3703320"/>
            <a:ext cx="4526280" cy="1691640"/>
          </a:xfrm>
          <a:prstGeom prst="roundRect">
            <a:avLst>
              <a:gd name="adj" fmla="val 4324"/>
            </a:avLst>
          </a:prstGeom>
          <a:solidFill>
            <a:srgbClr val="FBEA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60920" y="38679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CHATBOT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4178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✓     Structure ✗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45720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useful if you already know the right 8-9 questions to ask, in order.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Idea In. Eight Structured Sections Out.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sits between a blank template and an open-ended chatbot: it supplies both the structure AND a first-pass of the content, in a single submission.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231C42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Startup Idea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101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mobile app that helps college students find affordable tiffin services..."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3154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60520" y="27432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7C5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3101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structured request → predictable, validated 8-section JSON response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013448" y="3154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772400" y="2743200"/>
            <a:ext cx="3867912" cy="1371600"/>
          </a:xfrm>
          <a:prstGeom prst="roundRect">
            <a:avLst>
              <a:gd name="adj" fmla="val 5333"/>
            </a:avLst>
          </a:prstGeom>
          <a:solidFill>
            <a:srgbClr val="231C42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0" y="292608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Structured Sections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3310128"/>
            <a:ext cx="3502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progressively to the browser via Server-Sent Events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4078" y="4663440"/>
            <a:ext cx="1783080" cy="502920"/>
          </a:xfrm>
          <a:prstGeom prst="roundRect">
            <a:avLst>
              <a:gd name="adj" fmla="val 49091"/>
            </a:avLst>
          </a:prstGeom>
          <a:solidFill>
            <a:srgbClr val="231C42"/>
          </a:solidFill>
          <a:ln w="9525">
            <a:solidFill>
              <a:srgbClr val="7C5C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078" y="46649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Summary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77490" y="4656582"/>
            <a:ext cx="1874520" cy="502920"/>
          </a:xfrm>
          <a:prstGeom prst="roundRect">
            <a:avLst>
              <a:gd name="adj" fmla="val 49091"/>
            </a:avLst>
          </a:prstGeom>
          <a:solidFill>
            <a:srgbClr val="231C42"/>
          </a:solidFill>
          <a:ln w="9525">
            <a:solidFill>
              <a:srgbClr val="7C5C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77490" y="4663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2342" y="466344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231C42"/>
          </a:solidFill>
          <a:ln w="9525">
            <a:solidFill>
              <a:srgbClr val="7C5C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2342" y="46574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082028" y="4657468"/>
            <a:ext cx="594360" cy="502920"/>
          </a:xfrm>
          <a:prstGeom prst="roundRect">
            <a:avLst>
              <a:gd name="adj" fmla="val 49091"/>
            </a:avLst>
          </a:prstGeom>
          <a:solidFill>
            <a:srgbClr val="231C42"/>
          </a:solidFill>
          <a:ln w="9525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 txBox="1"/>
          <p:nvPr/>
        </p:nvSpPr>
        <p:spPr>
          <a:xfrm>
            <a:off x="7082028" y="465746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4434" y="4663440"/>
            <a:ext cx="1508760" cy="502920"/>
          </a:xfrm>
          <a:prstGeom prst="roundRect">
            <a:avLst>
              <a:gd name="adj" fmla="val 49091"/>
            </a:avLst>
          </a:prstGeom>
          <a:solidFill>
            <a:srgbClr val="231C42"/>
          </a:solidFill>
          <a:ln w="9525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 txBox="1"/>
          <p:nvPr/>
        </p:nvSpPr>
        <p:spPr>
          <a:xfrm>
            <a:off x="8023860" y="467020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921240" y="4663440"/>
            <a:ext cx="1417320" cy="502920"/>
          </a:xfrm>
          <a:prstGeom prst="roundRect">
            <a:avLst>
              <a:gd name="adj" fmla="val 49091"/>
            </a:avLst>
          </a:prstGeom>
          <a:solidFill>
            <a:srgbClr val="231C42"/>
          </a:solidFill>
          <a:ln w="9525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Text 25"/>
          <p:cNvSpPr txBox="1"/>
          <p:nvPr/>
        </p:nvSpPr>
        <p:spPr>
          <a:xfrm>
            <a:off x="9910883" y="4670205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Features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781044" y="5454396"/>
            <a:ext cx="1508760" cy="502920"/>
          </a:xfrm>
          <a:prstGeom prst="roundRect">
            <a:avLst>
              <a:gd name="adj" fmla="val 49091"/>
            </a:avLst>
          </a:prstGeom>
          <a:solidFill>
            <a:srgbClr val="231C42"/>
          </a:solidFill>
          <a:ln w="9525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Text 27"/>
          <p:cNvSpPr txBox="1"/>
          <p:nvPr/>
        </p:nvSpPr>
        <p:spPr>
          <a:xfrm>
            <a:off x="3797559" y="545439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733288" y="5440680"/>
            <a:ext cx="1600200" cy="502920"/>
          </a:xfrm>
          <a:prstGeom prst="roundRect">
            <a:avLst>
              <a:gd name="adj" fmla="val 49091"/>
            </a:avLst>
          </a:prstGeom>
          <a:solidFill>
            <a:srgbClr val="231C42"/>
          </a:solidFill>
          <a:ln w="9525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 txBox="1"/>
          <p:nvPr/>
        </p:nvSpPr>
        <p:spPr>
          <a:xfrm>
            <a:off x="5716773" y="54361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Pitch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People Racing a Deadline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EDE9F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40280"/>
            <a:ext cx="594360" cy="59436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9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First-Time</a:t>
            </a:r>
            <a:r>
              <a:rPr lang="en-US" sz="165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601617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strong idea, no formal business background — needs a credible structured draft to build 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79976" y="19202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EDE9FE"/>
          </a:solidFill>
          <a:ln/>
        </p:spPr>
      </p:sp>
      <p:sp>
        <p:nvSpPr>
          <p:cNvPr id="10" name="Shape 8"/>
          <p:cNvSpPr/>
          <p:nvPr/>
        </p:nvSpPr>
        <p:spPr>
          <a:xfrm>
            <a:off x="4700016" y="2240280"/>
            <a:ext cx="594360" cy="59436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0016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90" dirty="0"/>
          </a:p>
        </p:txBody>
      </p:sp>
      <p:sp>
        <p:nvSpPr>
          <p:cNvPr id="12" name="Text 10"/>
          <p:cNvSpPr txBox="1"/>
          <p:nvPr/>
        </p:nvSpPr>
        <p:spPr>
          <a:xfrm>
            <a:off x="4700016" y="2953139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/ Hackathon Participant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3601617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 a tight, judged deadline — needs fast, professional-looking output without prior pitch experience.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11312" y="19202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EDE9FE"/>
          </a:solidFill>
          <a:ln/>
        </p:spPr>
      </p:sp>
      <p:sp>
        <p:nvSpPr>
          <p:cNvPr id="15" name="Shape 13"/>
          <p:cNvSpPr/>
          <p:nvPr/>
        </p:nvSpPr>
        <p:spPr>
          <a:xfrm>
            <a:off x="8531352" y="2240280"/>
            <a:ext cx="594360" cy="59436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31352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90" dirty="0"/>
          </a:p>
        </p:txBody>
      </p:sp>
      <p:sp>
        <p:nvSpPr>
          <p:cNvPr id="17" name="Text 15"/>
          <p:cNvSpPr txBox="1"/>
          <p:nvPr/>
        </p:nvSpPr>
        <p:spPr>
          <a:xfrm>
            <a:off x="8531352" y="2834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/ Accelerator Applicant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531352" y="35661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fill a fixed submission template — needs section-by-section coverage of every required field.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OUTPUT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Eight-Part Business Framework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70048" cy="1554480"/>
          </a:xfrm>
          <a:prstGeom prst="roundRect">
            <a:avLst>
              <a:gd name="adj" fmla="val 5882"/>
            </a:avLst>
          </a:prstGeom>
          <a:solidFill>
            <a:srgbClr val="15122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Summary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401568" y="1920240"/>
            <a:ext cx="2670048" cy="1554480"/>
          </a:xfrm>
          <a:prstGeom prst="roundRect">
            <a:avLst>
              <a:gd name="adj" fmla="val 5882"/>
            </a:avLst>
          </a:prstGeom>
          <a:solidFill>
            <a:srgbClr val="15122B"/>
          </a:solidFill>
          <a:ln/>
        </p:spPr>
      </p:sp>
      <p:sp>
        <p:nvSpPr>
          <p:cNvPr id="9" name="Shape 7"/>
          <p:cNvSpPr/>
          <p:nvPr/>
        </p:nvSpPr>
        <p:spPr>
          <a:xfrm>
            <a:off x="3584448" y="210312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8444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69748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54496" y="1920240"/>
            <a:ext cx="2670048" cy="1554480"/>
          </a:xfrm>
          <a:prstGeom prst="roundRect">
            <a:avLst>
              <a:gd name="adj" fmla="val 5882"/>
            </a:avLst>
          </a:prstGeom>
          <a:solidFill>
            <a:srgbClr val="15122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37376" y="210312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373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269748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107424" y="1920240"/>
            <a:ext cx="2670048" cy="1554480"/>
          </a:xfrm>
          <a:prstGeom prst="roundRect">
            <a:avLst>
              <a:gd name="adj" fmla="val 5882"/>
            </a:avLst>
          </a:prstGeom>
          <a:solidFill>
            <a:srgbClr val="15122B"/>
          </a:solidFill>
          <a:ln/>
        </p:spPr>
      </p:sp>
      <p:sp>
        <p:nvSpPr>
          <p:cNvPr id="17" name="Shape 15"/>
          <p:cNvSpPr/>
          <p:nvPr/>
        </p:nvSpPr>
        <p:spPr>
          <a:xfrm>
            <a:off x="9290304" y="210312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9030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269748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 Proposition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2670048" cy="1554480"/>
          </a:xfrm>
          <a:prstGeom prst="roundRect">
            <a:avLst>
              <a:gd name="adj" fmla="val 5882"/>
            </a:avLst>
          </a:prstGeom>
          <a:solidFill>
            <a:srgbClr val="15122B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48056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401568" y="3703320"/>
            <a:ext cx="2670048" cy="1554480"/>
          </a:xfrm>
          <a:prstGeom prst="roundRect">
            <a:avLst>
              <a:gd name="adj" fmla="val 5882"/>
            </a:avLst>
          </a:prstGeom>
          <a:solidFill>
            <a:srgbClr val="1512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584448" y="388620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8444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584448" y="448056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Features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254496" y="3703320"/>
            <a:ext cx="2670048" cy="1554480"/>
          </a:xfrm>
          <a:prstGeom prst="roundRect">
            <a:avLst>
              <a:gd name="adj" fmla="val 5882"/>
            </a:avLst>
          </a:prstGeom>
          <a:solidFill>
            <a:srgbClr val="1512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437376" y="388620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37376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37376" y="448056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9107424" y="3703320"/>
            <a:ext cx="2670048" cy="1554480"/>
          </a:xfrm>
          <a:prstGeom prst="roundRect">
            <a:avLst>
              <a:gd name="adj" fmla="val 5882"/>
            </a:avLst>
          </a:prstGeom>
          <a:solidFill>
            <a:srgbClr val="15122B"/>
          </a:solidFill>
          <a:ln/>
        </p:spPr>
      </p:sp>
      <p:sp>
        <p:nvSpPr>
          <p:cNvPr id="33" name="Shape 31"/>
          <p:cNvSpPr/>
          <p:nvPr/>
        </p:nvSpPr>
        <p:spPr>
          <a:xfrm>
            <a:off x="9290304" y="388620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90304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290304" y="448056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Pitch</a:t>
            </a:r>
            <a:endParaRPr lang="en-US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the Product Feel Complete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92808"/>
            <a:ext cx="384048" cy="38404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783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Analysis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211226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almost any startup concept and get a structured business analysis via Gemini.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892808"/>
            <a:ext cx="384048" cy="38404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10" name="Text 8"/>
          <p:cNvSpPr txBox="1"/>
          <p:nvPr/>
        </p:nvSpPr>
        <p:spPr>
          <a:xfrm>
            <a:off x="6839712" y="1783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Streaming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839712" y="211226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render live via SSE — no blank-screen wait for a single big response.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299923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&amp; Validated Output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32841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Gemini's response is validated against a Pydantic schema before reaching the UI.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3108960"/>
            <a:ext cx="384048" cy="38404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299923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Examples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332841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example ideas so any user can try the tool immediately.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325112"/>
            <a:ext cx="384048" cy="38404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421538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Theme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454456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theme toggle for a more flexible, comfortable viewing experience.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4325112"/>
            <a:ext cx="384048" cy="38404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26" name="Text 24"/>
          <p:cNvSpPr txBox="1"/>
          <p:nvPr/>
        </p:nvSpPr>
        <p:spPr>
          <a:xfrm>
            <a:off x="6839712" y="421538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6839712" y="454456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export their generated analysis as a shareable PDF report.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5541264"/>
            <a:ext cx="384048" cy="38404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5541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30" name="Text 28"/>
          <p:cNvSpPr txBox="1"/>
          <p:nvPr/>
        </p:nvSpPr>
        <p:spPr>
          <a:xfrm>
            <a:off x="1078992" y="543153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</a:t>
            </a:r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1078992" y="57607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experience across desktop and smaller screen sizes.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5541264"/>
            <a:ext cx="384048" cy="38404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09360" y="5541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34" name="Text 32"/>
          <p:cNvSpPr txBox="1"/>
          <p:nvPr/>
        </p:nvSpPr>
        <p:spPr>
          <a:xfrm>
            <a:off x="6839712" y="543153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API Docs</a:t>
            </a:r>
            <a:endParaRPr lang="en-US" dirty="0"/>
          </a:p>
        </p:txBody>
      </p:sp>
      <p:sp>
        <p:nvSpPr>
          <p:cNvPr id="35" name="Text 33"/>
          <p:cNvSpPr txBox="1"/>
          <p:nvPr/>
        </p:nvSpPr>
        <p:spPr>
          <a:xfrm>
            <a:off x="6839712" y="57607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auto-generates Swagger documentation at /docs.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Action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3677DD-339D-75A5-1C09-CC1B4A71E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502229"/>
            <a:ext cx="10928013" cy="48705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9CB71-764E-E369-DE80-040EA5DC2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47A0D2-5E87-E812-4B04-0BB80EE98637}"/>
              </a:ext>
            </a:extLst>
          </p:cNvPr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B82450-2CEA-ED1A-DA59-E8351D9A011D}"/>
              </a:ext>
            </a:extLst>
          </p:cNvPr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Action</a:t>
            </a:r>
            <a:endParaRPr lang="en-US" sz="3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AF13718-3CA8-8955-1A40-7FF50E3225D5}"/>
              </a:ext>
            </a:extLst>
          </p:cNvPr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71C74-6D4B-5A6C-229C-0BC350CC5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35607"/>
            <a:ext cx="11091545" cy="494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85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Step by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7C5C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startup idea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18688" y="22631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01568" y="182880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7C5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38728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228600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sends a POST request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071616" y="22631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54496" y="182880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7C5C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91656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91656" y="228600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receives the idea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924544" y="22631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07424" y="182880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7C5C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44584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228600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sends ONE structured request to Gemini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57432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EDE9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02336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 all 8 sections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18688" y="40005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01568" y="356616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EDE9F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538728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538728" y="402336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validates the response (Pydantic)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071616" y="40005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54496" y="356616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EDE9F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91656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391656" y="402336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streams sections via SSE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924544" y="40005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107424" y="356616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EDE9F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244584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244584" y="402336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renders each section progressively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Technology Layers Behind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79476" y="21945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7C5C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0916" y="24231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70916" y="28163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idea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71116" y="25786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327148" y="21945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231C42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18588" y="24231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418588" y="28163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18788" y="25786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74820" y="21945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7C5C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66260" y="24231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366260" y="28163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66460" y="25786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22492" y="21945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231C42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13932" y="24231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13932" y="28163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structured request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914132" y="25786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170164" y="21945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7C5C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61604" y="24231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61604" y="28163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861804" y="25786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117836" y="21945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231C42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09276" y="24231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209276" y="28163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events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39776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renders the report progressively, then offers PDF export.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85216" y="47091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31C4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8096" y="48737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" y="52395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 · Netlify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334256" y="47091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31C4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17136" y="48737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517136" y="52395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Uvicorn · Render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083296" y="47091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31C4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66176" y="48737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266176" y="52395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· google-genai SDK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8 API Calls to 1 — Why It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BEA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75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independent Gemini requests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unnecessary API pressure and risked hitting Gemini's free-tier rate limits.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285232" cy="1691640"/>
          </a:xfrm>
          <a:prstGeom prst="roundRect">
            <a:avLst>
              <a:gd name="adj" fmla="val 4324"/>
            </a:avLst>
          </a:prstGeom>
          <a:solidFill>
            <a:srgbClr val="EDE9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1975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structured Gemini request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697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8 sections as one validated JSON object, then streamed via SSE.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9624"/>
            <a:ext cx="109728" cy="10972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72160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API calls, lower rate-limit risk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3849624"/>
            <a:ext cx="109728" cy="10972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372160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Simpler, easier-to-maintain backend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109728" cy="10972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28853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schema-validated response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4416552"/>
            <a:ext cx="109728" cy="10972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428853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still renders progressively via SSE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1512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074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SSE delivers the 8 completed sections progressively — this is not token-by-token Gemini streaming</a:t>
            </a:r>
            <a:r>
              <a:rPr lang="en-US" sz="1100" i="1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9983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It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70048" cy="2697480"/>
          </a:xfrm>
          <a:prstGeom prst="roundRect">
            <a:avLst>
              <a:gd name="adj" fmla="val 3425"/>
            </a:avLst>
          </a:prstGeom>
          <a:solidFill>
            <a:srgbClr val="151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226771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2761488"/>
            <a:ext cx="365760" cy="365760"/>
          </a:xfrm>
          <a:prstGeom prst="ellipse">
            <a:avLst/>
          </a:prstGeom>
          <a:solidFill>
            <a:srgbClr val="7C5CFF"/>
          </a:solidFill>
          <a:ln/>
        </p:spPr>
      </p:sp>
      <p:pic>
        <p:nvPicPr>
          <p:cNvPr id="7" name="Image 0" descr="/home/claude/logos/html5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" y="2830982"/>
            <a:ext cx="226771" cy="22677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27614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9808" y="3218688"/>
            <a:ext cx="365760" cy="365760"/>
          </a:xfrm>
          <a:prstGeom prst="ellipse">
            <a:avLst/>
          </a:prstGeom>
          <a:solidFill>
            <a:srgbClr val="7C5CFF"/>
          </a:solidFill>
          <a:ln/>
        </p:spPr>
      </p:sp>
      <p:pic>
        <p:nvPicPr>
          <p:cNvPr id="10" name="Image 1" descr="/home/claude/logos/javascrip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" y="3288182"/>
            <a:ext cx="226771" cy="22677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32186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6868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/ SSE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68096" y="40891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401568" y="2103120"/>
            <a:ext cx="2670048" cy="2697480"/>
          </a:xfrm>
          <a:prstGeom prst="roundRect">
            <a:avLst>
              <a:gd name="adj" fmla="val 3425"/>
            </a:avLst>
          </a:prstGeom>
          <a:solidFill>
            <a:srgbClr val="EDE9FE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602736" y="226771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3602736" y="2761488"/>
            <a:ext cx="365760" cy="365760"/>
          </a:xfrm>
          <a:prstGeom prst="ellipse">
            <a:avLst/>
          </a:prstGeom>
          <a:solidFill>
            <a:srgbClr val="7C5CFF"/>
          </a:solidFill>
          <a:ln/>
        </p:spPr>
      </p:sp>
      <p:pic>
        <p:nvPicPr>
          <p:cNvPr id="17" name="Image 2" descr="/home/claude/logos/pyth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2230" y="2830982"/>
            <a:ext cx="226771" cy="22677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041648" y="27614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602736" y="3218688"/>
            <a:ext cx="365760" cy="365760"/>
          </a:xfrm>
          <a:prstGeom prst="ellipse">
            <a:avLst/>
          </a:prstGeom>
          <a:solidFill>
            <a:srgbClr val="7C5CFF"/>
          </a:solidFill>
          <a:ln/>
        </p:spPr>
      </p:sp>
      <p:pic>
        <p:nvPicPr>
          <p:cNvPr id="20" name="Image 3" descr="/home/claude/logos/fastapi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2230" y="3288182"/>
            <a:ext cx="226771" cy="22677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041648" y="32186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3621024" y="365394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3621024" y="39999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254496" y="2103120"/>
            <a:ext cx="2670048" cy="2697480"/>
          </a:xfrm>
          <a:prstGeom prst="roundRect">
            <a:avLst>
              <a:gd name="adj" fmla="val 3425"/>
            </a:avLst>
          </a:prstGeom>
          <a:solidFill>
            <a:srgbClr val="15122B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455664" y="226771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dirty="0"/>
          </a:p>
        </p:txBody>
      </p:sp>
      <p:sp>
        <p:nvSpPr>
          <p:cNvPr id="26" name="Shape 20"/>
          <p:cNvSpPr/>
          <p:nvPr/>
        </p:nvSpPr>
        <p:spPr>
          <a:xfrm>
            <a:off x="6455664" y="2761488"/>
            <a:ext cx="365760" cy="365760"/>
          </a:xfrm>
          <a:prstGeom prst="ellipse">
            <a:avLst/>
          </a:prstGeom>
          <a:solidFill>
            <a:srgbClr val="7C5CFF"/>
          </a:solidFill>
          <a:ln/>
        </p:spPr>
      </p:sp>
      <p:pic>
        <p:nvPicPr>
          <p:cNvPr id="27" name="Image 4" descr="/home/claude/logos/googlegemini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5158" y="2830982"/>
            <a:ext cx="226771" cy="22677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894576" y="27614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6455664" y="321868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SDK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455664" y="367588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9107424" y="2103120"/>
            <a:ext cx="2670048" cy="2697480"/>
          </a:xfrm>
          <a:prstGeom prst="roundRect">
            <a:avLst>
              <a:gd name="adj" fmla="val 3425"/>
            </a:avLst>
          </a:prstGeom>
          <a:solidFill>
            <a:srgbClr val="EDE9FE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9308592" y="226771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dirty="0"/>
          </a:p>
        </p:txBody>
      </p:sp>
      <p:sp>
        <p:nvSpPr>
          <p:cNvPr id="33" name="Shape 26"/>
          <p:cNvSpPr/>
          <p:nvPr/>
        </p:nvSpPr>
        <p:spPr>
          <a:xfrm>
            <a:off x="9308592" y="2761488"/>
            <a:ext cx="365760" cy="365760"/>
          </a:xfrm>
          <a:prstGeom prst="ellipse">
            <a:avLst/>
          </a:prstGeom>
          <a:solidFill>
            <a:srgbClr val="7C5CFF"/>
          </a:solidFill>
          <a:ln/>
        </p:spPr>
      </p:sp>
      <p:pic>
        <p:nvPicPr>
          <p:cNvPr id="34" name="Image 5" descr="/home/claude/logos/netlify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8086" y="2830982"/>
            <a:ext cx="226771" cy="226771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747504" y="27614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— Frontend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9308592" y="3218688"/>
            <a:ext cx="365760" cy="365760"/>
          </a:xfrm>
          <a:prstGeom prst="ellipse">
            <a:avLst/>
          </a:prstGeom>
          <a:solidFill>
            <a:srgbClr val="7C5CFF"/>
          </a:solidFill>
          <a:ln/>
        </p:spPr>
      </p:sp>
      <p:pic>
        <p:nvPicPr>
          <p:cNvPr id="37" name="Image 6" descr="/home/claude/logos/rende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8086" y="3288182"/>
            <a:ext cx="226771" cy="226771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747504" y="32186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— Backend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9308592" y="3675888"/>
            <a:ext cx="365760" cy="365760"/>
          </a:xfrm>
          <a:prstGeom prst="ellipse">
            <a:avLst/>
          </a:prstGeom>
          <a:solidFill>
            <a:srgbClr val="7C5CFF"/>
          </a:solidFill>
          <a:ln/>
        </p:spPr>
      </p:sp>
      <p:pic>
        <p:nvPicPr>
          <p:cNvPr id="40" name="Image 7" descr="/home/claude/logos/github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8086" y="3745382"/>
            <a:ext cx="226771" cy="226771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747504" y="36758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Source Control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Git &amp; GitHub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4632" y="2103120"/>
            <a:ext cx="1298448" cy="1005840"/>
          </a:xfrm>
          <a:prstGeom prst="roundRect">
            <a:avLst>
              <a:gd name="adj" fmla="val 6364"/>
            </a:avLst>
          </a:prstGeom>
          <a:solidFill>
            <a:srgbClr val="7C5C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9496" y="21031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441448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01952" y="2103120"/>
            <a:ext cx="1298448" cy="1005840"/>
          </a:xfrm>
          <a:prstGeom prst="roundRect">
            <a:avLst>
              <a:gd name="adj" fmla="val 6364"/>
            </a:avLst>
          </a:prstGeom>
          <a:solidFill>
            <a:srgbClr val="231C42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56816" y="21031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441448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19272" y="2103120"/>
            <a:ext cx="1298448" cy="1005840"/>
          </a:xfrm>
          <a:prstGeom prst="roundRect">
            <a:avLst>
              <a:gd name="adj" fmla="val 6364"/>
            </a:avLst>
          </a:prstGeom>
          <a:solidFill>
            <a:srgbClr val="7C5C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74136" y="21031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441448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36592" y="2103120"/>
            <a:ext cx="1298448" cy="1005840"/>
          </a:xfrm>
          <a:prstGeom prst="roundRect">
            <a:avLst>
              <a:gd name="adj" fmla="val 6364"/>
            </a:avLst>
          </a:prstGeom>
          <a:solidFill>
            <a:srgbClr val="231C42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1031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441448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53912" y="2103120"/>
            <a:ext cx="1298448" cy="1005840"/>
          </a:xfrm>
          <a:prstGeom prst="roundRect">
            <a:avLst>
              <a:gd name="adj" fmla="val 6364"/>
            </a:avLst>
          </a:prstGeom>
          <a:solidFill>
            <a:srgbClr val="7C5C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08776" y="21031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2441448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71232" y="2103120"/>
            <a:ext cx="1298448" cy="1005840"/>
          </a:xfrm>
          <a:prstGeom prst="roundRect">
            <a:avLst>
              <a:gd name="adj" fmla="val 6364"/>
            </a:avLst>
          </a:prstGeom>
          <a:solidFill>
            <a:srgbClr val="231C42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6096" y="21031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2441448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88552" y="2103120"/>
            <a:ext cx="1298448" cy="1005840"/>
          </a:xfrm>
          <a:prstGeom prst="roundRect">
            <a:avLst>
              <a:gd name="adj" fmla="val 6364"/>
            </a:avLst>
          </a:prstGeom>
          <a:solidFill>
            <a:srgbClr val="7C5C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43416" y="21031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287000" y="2441448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405872" y="2103120"/>
            <a:ext cx="1298448" cy="1005840"/>
          </a:xfrm>
          <a:prstGeom prst="roundRect">
            <a:avLst>
              <a:gd name="adj" fmla="val 6364"/>
            </a:avLst>
          </a:prstGeom>
          <a:solidFill>
            <a:srgbClr val="231C42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60736" y="21031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97280" y="3813048"/>
            <a:ext cx="109728" cy="10972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371600" y="367588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member worked on their own feature branch before merging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97280" y="4407408"/>
            <a:ext cx="109728" cy="10972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371600" y="426427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were reviewed before merging into main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97280" y="5001768"/>
            <a:ext cx="109728" cy="10972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371600" y="486460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kept a clear history of who contributed what, and when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97280" y="5623560"/>
            <a:ext cx="9994392" cy="685800"/>
          </a:xfrm>
          <a:prstGeom prst="roundRect">
            <a:avLst>
              <a:gd name="adj" fmla="val 8000"/>
            </a:avLst>
          </a:prstGeom>
          <a:solidFill>
            <a:srgbClr val="231C42"/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325880" y="562356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C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a merge:  git checkout main   →   git pull origin main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Individual Contributions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724912" cy="4297680"/>
          </a:xfrm>
          <a:prstGeom prst="roundRect">
            <a:avLst>
              <a:gd name="adj" fmla="val 3356"/>
            </a:avLst>
          </a:prstGeom>
          <a:solidFill>
            <a:srgbClr val="EDE9FE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938528"/>
            <a:ext cx="502920" cy="50292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26561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Dakshita Biwal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1380744" y="219456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2916936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77520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&amp; FastAPI architecture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" y="3447288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30098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integration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" y="3977640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77647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response design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9808" y="4507992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3544" y="4304585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implementation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9808" y="5038344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832605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&amp; deployment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" y="5568696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536598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management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19856" y="1709928"/>
            <a:ext cx="2724912" cy="4297680"/>
          </a:xfrm>
          <a:prstGeom prst="roundRect">
            <a:avLst>
              <a:gd name="adj" fmla="val 3356"/>
            </a:avLst>
          </a:prstGeom>
          <a:solidFill>
            <a:srgbClr val="EDE9FE"/>
          </a:solidFill>
          <a:ln/>
        </p:spPr>
      </p:sp>
      <p:sp>
        <p:nvSpPr>
          <p:cNvPr id="22" name="Shape 20"/>
          <p:cNvSpPr/>
          <p:nvPr/>
        </p:nvSpPr>
        <p:spPr>
          <a:xfrm>
            <a:off x="3621024" y="1938528"/>
            <a:ext cx="502920" cy="50292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21024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30" dirty="0"/>
          </a:p>
        </p:txBody>
      </p:sp>
      <p:sp>
        <p:nvSpPr>
          <p:cNvPr id="24" name="Text 22"/>
          <p:cNvSpPr txBox="1"/>
          <p:nvPr/>
        </p:nvSpPr>
        <p:spPr>
          <a:xfrm>
            <a:off x="4224528" y="1826561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Raunak Mishra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4224528" y="2265473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 &amp; UI/UX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21024" y="2916936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831336" y="271502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implementation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21024" y="3447288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831336" y="3228299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improvements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21024" y="3977640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785616" y="377647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21024" y="4507992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785616" y="4328285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analysis interface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21024" y="5038344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811742" y="48234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interaction logic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21024" y="5568696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802038" y="5348073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presentation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91072" y="1682496"/>
            <a:ext cx="2724912" cy="4297680"/>
          </a:xfrm>
          <a:prstGeom prst="roundRect">
            <a:avLst>
              <a:gd name="adj" fmla="val 3356"/>
            </a:avLst>
          </a:prstGeom>
          <a:solidFill>
            <a:srgbClr val="EDE9FE"/>
          </a:solidFill>
          <a:ln/>
        </p:spPr>
      </p:sp>
      <p:sp>
        <p:nvSpPr>
          <p:cNvPr id="39" name="Shape 37"/>
          <p:cNvSpPr/>
          <p:nvPr/>
        </p:nvSpPr>
        <p:spPr>
          <a:xfrm>
            <a:off x="6492240" y="1938528"/>
            <a:ext cx="502920" cy="50292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9224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30" dirty="0"/>
          </a:p>
        </p:txBody>
      </p:sp>
      <p:sp>
        <p:nvSpPr>
          <p:cNvPr id="41" name="Text 39"/>
          <p:cNvSpPr txBox="1"/>
          <p:nvPr/>
        </p:nvSpPr>
        <p:spPr>
          <a:xfrm>
            <a:off x="7114032" y="1826561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Singh</a:t>
            </a:r>
            <a:endParaRPr lang="en-US" dirty="0"/>
          </a:p>
        </p:txBody>
      </p:sp>
      <p:sp>
        <p:nvSpPr>
          <p:cNvPr id="42" name="Text 40"/>
          <p:cNvSpPr txBox="1"/>
          <p:nvPr/>
        </p:nvSpPr>
        <p:spPr>
          <a:xfrm>
            <a:off x="7114032" y="230428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Documentation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492240" y="2916936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656832" y="270457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testing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492240" y="3447288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656832" y="3223541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design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492240" y="3977640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656832" y="3743069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492240" y="4507992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656832" y="4277713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support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492240" y="5038344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656832" y="4827985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preparation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162288" y="1737360"/>
            <a:ext cx="2724912" cy="4297680"/>
          </a:xfrm>
          <a:prstGeom prst="roundRect">
            <a:avLst>
              <a:gd name="adj" fmla="val 3356"/>
            </a:avLst>
          </a:prstGeom>
          <a:solidFill>
            <a:srgbClr val="EDE9FE"/>
          </a:solidFill>
          <a:ln/>
        </p:spPr>
      </p:sp>
      <p:sp>
        <p:nvSpPr>
          <p:cNvPr id="54" name="Shape 52"/>
          <p:cNvSpPr/>
          <p:nvPr/>
        </p:nvSpPr>
        <p:spPr>
          <a:xfrm>
            <a:off x="9363456" y="1938528"/>
            <a:ext cx="502920" cy="50292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363456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30" dirty="0"/>
          </a:p>
        </p:txBody>
      </p:sp>
      <p:sp>
        <p:nvSpPr>
          <p:cNvPr id="56" name="Text 54"/>
          <p:cNvSpPr txBox="1"/>
          <p:nvPr/>
        </p:nvSpPr>
        <p:spPr>
          <a:xfrm>
            <a:off x="9985248" y="1826561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Chanda Kumari</a:t>
            </a:r>
            <a:endParaRPr lang="en-US" dirty="0"/>
          </a:p>
        </p:txBody>
      </p:sp>
      <p:sp>
        <p:nvSpPr>
          <p:cNvPr id="57" name="Text 55"/>
          <p:cNvSpPr txBox="1"/>
          <p:nvPr/>
        </p:nvSpPr>
        <p:spPr>
          <a:xfrm>
            <a:off x="9985248" y="230428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Content &amp; Presentation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9363456" y="2916936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528048" y="269290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/ business research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9363456" y="3447288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9528048" y="3225406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preparation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9363456" y="3977640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9528048" y="3763036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support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9363456" y="4507992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528048" y="4305425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explanation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9363456" y="5038344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9528048" y="4807505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assistance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 Through This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231C42"/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 REST APIs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43400" y="18745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231C42"/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874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 validation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38160" y="18745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231C42"/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21040" y="1874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&amp; Google GenAI SDK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231C42"/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017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responses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30175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231C42"/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3017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(SSE)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30175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231C42"/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3017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Python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231C42"/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60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Fetch API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43400" y="41605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231C42"/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26280" y="4160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frontend development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38160" y="41605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231C42"/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4160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workflows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231C42"/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303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&amp; code review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43400" y="53035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231C42"/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5303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&amp; Render deployment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8160" y="53035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231C42"/>
          </a:solidFill>
          <a:ln w="9525">
            <a:solidFill>
              <a:srgbClr val="7C5CFF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21040" y="5303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&amp; API security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Is Live — Here's Where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EDE9F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7C5CFF"/>
          </a:solidFill>
          <a:ln/>
        </p:spPr>
      </p:sp>
      <p:pic>
        <p:nvPicPr>
          <p:cNvPr id="6" name="Image 0" descr="/home/claude/logos/netlif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95" y="2335835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5420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ai-startup-launchpad.netlify.app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EDE9FE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240280"/>
            <a:ext cx="502920" cy="502920"/>
          </a:xfrm>
          <a:prstGeom prst="ellipse">
            <a:avLst/>
          </a:prstGeom>
          <a:solidFill>
            <a:srgbClr val="7C5CFF"/>
          </a:solidFill>
          <a:ln/>
        </p:spPr>
      </p:sp>
      <p:pic>
        <p:nvPicPr>
          <p:cNvPr id="11" name="Image 1" descr="/home/claude/logos/rend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795" y="2335835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5420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ai-startup-launchpad.onrender.com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EDE9FE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7C5CFF"/>
          </a:solidFill>
          <a:ln/>
        </p:spPr>
      </p:sp>
      <p:pic>
        <p:nvPicPr>
          <p:cNvPr id="16" name="Image 2" descr="/home/claude/logos/fastapi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795" y="4073195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886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</a:t>
            </a:r>
            <a:endParaRPr lang="en-US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2793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ai-startup-launchpad.onrender.com/docs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63640" y="365760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EDE9F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3977640"/>
            <a:ext cx="502920" cy="502920"/>
          </a:xfrm>
          <a:prstGeom prst="ellipse">
            <a:avLst/>
          </a:prstGeom>
          <a:solidFill>
            <a:srgbClr val="7C5CFF"/>
          </a:solidFill>
          <a:ln/>
        </p:spPr>
      </p:sp>
      <p:pic>
        <p:nvPicPr>
          <p:cNvPr id="21" name="Image 3" descr="/home/claude/logos/githu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795" y="4073195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3886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42793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github.com/dakshita01/ai-startup-launchpad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DE9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43400" y="18745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DE9F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18745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analyses &amp; history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38160" y="18745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DE9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21040" y="18745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comparison tool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DE9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1089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research module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31089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DE9F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6280" y="31089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Market-size estimation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31089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DE9F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31089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business model canvas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DE9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3434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pitch deck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43400" y="43434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DE9F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26280" y="43434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38160" y="43434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DE9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21040" y="43434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features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can be added incrementally without changing the current frontend/backend architecture.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Launchpad  ·  Team AetherMinds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7C5C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5B3FD9">
              <a:alpha val="12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682932" y="1744980"/>
            <a:ext cx="822960" cy="822960"/>
          </a:xfrm>
          <a:prstGeom prst="ellipse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5"/>
          <p:cNvSpPr txBox="1"/>
          <p:nvPr/>
        </p:nvSpPr>
        <p:spPr>
          <a:xfrm>
            <a:off x="5682932" y="1767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340" dirty="0"/>
          </a:p>
        </p:txBody>
      </p:sp>
      <p:sp>
        <p:nvSpPr>
          <p:cNvPr id="10" name="Text 6"/>
          <p:cNvSpPr txBox="1"/>
          <p:nvPr/>
        </p:nvSpPr>
        <p:spPr>
          <a:xfrm>
            <a:off x="725329" y="2778252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1" name="Text 7"/>
          <p:cNvSpPr txBox="1"/>
          <p:nvPr/>
        </p:nvSpPr>
        <p:spPr>
          <a:xfrm>
            <a:off x="1360962" y="3565779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4893564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AetherMinds  ·  Dakshita Biwal · Raunak Mishra · Aman Singh · Chanda Kumari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534924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github.com/dakshita01/ai-startup-launchpad</a:t>
            </a:r>
            <a:endParaRPr lang="en-US" sz="12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EA9B57EC-870F-4DFD-9E76-2A497F636346}"/>
              </a:ext>
            </a:extLst>
          </p:cNvPr>
          <p:cNvSpPr/>
          <p:nvPr/>
        </p:nvSpPr>
        <p:spPr>
          <a:xfrm>
            <a:off x="725329" y="488823"/>
            <a:ext cx="1271269" cy="8572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D5245880-CCFD-74DE-FA49-18A518D6B6C1}"/>
              </a:ext>
            </a:extLst>
          </p:cNvPr>
          <p:cNvSpPr/>
          <p:nvPr/>
        </p:nvSpPr>
        <p:spPr>
          <a:xfrm>
            <a:off x="2388871" y="488823"/>
            <a:ext cx="1271269" cy="8572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4BA6CBC4-0E6A-1E30-C4E6-46B481715B44}"/>
              </a:ext>
            </a:extLst>
          </p:cNvPr>
          <p:cNvSpPr/>
          <p:nvPr/>
        </p:nvSpPr>
        <p:spPr>
          <a:xfrm>
            <a:off x="8673623" y="488823"/>
            <a:ext cx="1271269" cy="8572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501D9322-0F67-D9C1-639A-F9843459B67C}"/>
              </a:ext>
            </a:extLst>
          </p:cNvPr>
          <p:cNvSpPr/>
          <p:nvPr/>
        </p:nvSpPr>
        <p:spPr>
          <a:xfrm>
            <a:off x="10337165" y="485775"/>
            <a:ext cx="1271269" cy="8572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45F2169-023B-C3AB-97C7-BF1975C0C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877" y="577358"/>
            <a:ext cx="643255" cy="67408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7ED0E87-BF25-2163-F742-F5C2A1173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3623" y="588798"/>
            <a:ext cx="1271269" cy="657250"/>
          </a:xfrm>
          <a:prstGeom prst="rect">
            <a:avLst/>
          </a:prstGeom>
        </p:spPr>
      </p:pic>
      <p:pic>
        <p:nvPicPr>
          <p:cNvPr id="29" name="Image 2" descr="/home/claude/ibm_logo.png">
            <a:extLst>
              <a:ext uri="{FF2B5EF4-FFF2-40B4-BE49-F238E27FC236}">
                <a16:creationId xmlns:a16="http://schemas.microsoft.com/office/drawing/2014/main" id="{2E1192F7-6911-BC94-EE53-DCD88B92D1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2809" y="734949"/>
            <a:ext cx="2371249" cy="6080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5109CB-89B8-5106-9202-7D77225609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075" y="577358"/>
            <a:ext cx="723052" cy="6624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1420</Words>
  <Application>Microsoft Office PowerPoint</Application>
  <PresentationFormat>Custom</PresentationFormat>
  <Paragraphs>359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Surya Kant Singh</cp:lastModifiedBy>
  <cp:revision>3</cp:revision>
  <dcterms:created xsi:type="dcterms:W3CDTF">2026-09-13T14:17:49Z</dcterms:created>
  <dcterms:modified xsi:type="dcterms:W3CDTF">2026-09-15T17:14:09Z</dcterms:modified>
</cp:coreProperties>
</file>