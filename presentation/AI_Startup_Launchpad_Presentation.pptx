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6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4" r:id="rId20"/>
    <p:sldId id="275" r:id="rId21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754" y="3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57553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72FF5-1848-EAD7-EFB8-C9FD4C38E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7091BE-361A-61DA-AB84-4A332ECF4C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78F035-58A8-8293-2A3F-7F666AA352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22A262-3C92-3358-1828-743364A21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5085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2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6977" y="-2073402"/>
            <a:ext cx="6400800" cy="6400800"/>
          </a:xfrm>
          <a:prstGeom prst="ellipse">
            <a:avLst/>
          </a:prstGeom>
          <a:solidFill>
            <a:srgbClr val="7C5CFF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389120"/>
            <a:ext cx="5486400" cy="5486400"/>
          </a:xfrm>
          <a:prstGeom prst="ellipse">
            <a:avLst/>
          </a:prstGeom>
          <a:solidFill>
            <a:srgbClr val="5B3FD9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88620" y="429768"/>
            <a:ext cx="127127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sp>
        <p:nvSpPr>
          <p:cNvPr id="6" name="Shape 3"/>
          <p:cNvSpPr/>
          <p:nvPr/>
        </p:nvSpPr>
        <p:spPr>
          <a:xfrm>
            <a:off x="1996598" y="441198"/>
            <a:ext cx="1271269" cy="85725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9966960" y="129844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SkillsBuild</a:t>
            </a:r>
            <a:endParaRPr lang="en-US" sz="800" dirty="0"/>
          </a:p>
        </p:txBody>
      </p:sp>
      <p:sp>
        <p:nvSpPr>
          <p:cNvPr id="11" name="Shape 6"/>
          <p:cNvSpPr/>
          <p:nvPr/>
        </p:nvSpPr>
        <p:spPr>
          <a:xfrm>
            <a:off x="5705792" y="1618488"/>
            <a:ext cx="777240" cy="777240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705792" y="16002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2210" dirty="0"/>
          </a:p>
        </p:txBody>
      </p:sp>
      <p:sp>
        <p:nvSpPr>
          <p:cNvPr id="13" name="Text 8"/>
          <p:cNvSpPr txBox="1"/>
          <p:nvPr/>
        </p:nvSpPr>
        <p:spPr>
          <a:xfrm>
            <a:off x="731520" y="265176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AETHERMINDS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731520" y="297180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STARTUP LAUNCHPAD</a:t>
            </a:r>
            <a:endParaRPr lang="en-US" sz="4000" dirty="0"/>
          </a:p>
        </p:txBody>
      </p:sp>
      <p:sp>
        <p:nvSpPr>
          <p:cNvPr id="15" name="Text 10"/>
          <p:cNvSpPr txBox="1"/>
          <p:nvPr/>
        </p:nvSpPr>
        <p:spPr>
          <a:xfrm>
            <a:off x="1371600" y="3767328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C9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a raw startup idea into a structured, investor-ready analysis — in seconds.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371600" y="4315968"/>
            <a:ext cx="9445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Presentation — IBM SkillsBuild Gen AI &amp; Cloud Computing Internship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35508" y="48920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7C5CFF">
                <a:alpha val="6000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63524" y="5001768"/>
            <a:ext cx="2350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Dakshita Biwal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763524" y="5321808"/>
            <a:ext cx="2350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30" dirty="0">
                <a:solidFill>
                  <a:srgbClr val="C9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 · Backend &amp; Deployment</a:t>
            </a:r>
            <a:endParaRPr lang="en-US" sz="930" dirty="0"/>
          </a:p>
        </p:txBody>
      </p:sp>
      <p:sp>
        <p:nvSpPr>
          <p:cNvPr id="20" name="Shape 15"/>
          <p:cNvSpPr/>
          <p:nvPr/>
        </p:nvSpPr>
        <p:spPr>
          <a:xfrm>
            <a:off x="3406140" y="48920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7C5CFF">
                <a:alpha val="6000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3534156" y="5001768"/>
            <a:ext cx="2350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Raunak Mishra</a:t>
            </a:r>
            <a:endParaRPr lang="en-US" sz="1350" dirty="0"/>
          </a:p>
        </p:txBody>
      </p:sp>
      <p:sp>
        <p:nvSpPr>
          <p:cNvPr id="22" name="Text 17"/>
          <p:cNvSpPr txBox="1"/>
          <p:nvPr/>
        </p:nvSpPr>
        <p:spPr>
          <a:xfrm>
            <a:off x="3534156" y="5321808"/>
            <a:ext cx="2350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30" dirty="0">
                <a:solidFill>
                  <a:srgbClr val="C9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Development &amp; UI/UX</a:t>
            </a:r>
            <a:endParaRPr lang="en-US" sz="930" dirty="0"/>
          </a:p>
        </p:txBody>
      </p:sp>
      <p:sp>
        <p:nvSpPr>
          <p:cNvPr id="23" name="Shape 18"/>
          <p:cNvSpPr/>
          <p:nvPr/>
        </p:nvSpPr>
        <p:spPr>
          <a:xfrm>
            <a:off x="6176772" y="48920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7C5CFF">
                <a:alpha val="60000"/>
              </a:srgb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304788" y="5001768"/>
            <a:ext cx="2350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 Singh</a:t>
            </a:r>
            <a:endParaRPr lang="en-US" sz="1350" dirty="0"/>
          </a:p>
        </p:txBody>
      </p:sp>
      <p:sp>
        <p:nvSpPr>
          <p:cNvPr id="25" name="Text 20"/>
          <p:cNvSpPr txBox="1"/>
          <p:nvPr/>
        </p:nvSpPr>
        <p:spPr>
          <a:xfrm>
            <a:off x="6304788" y="5321808"/>
            <a:ext cx="2350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30" dirty="0">
                <a:solidFill>
                  <a:srgbClr val="C9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Documentation</a:t>
            </a:r>
            <a:endParaRPr lang="en-US" sz="930" dirty="0"/>
          </a:p>
        </p:txBody>
      </p:sp>
      <p:sp>
        <p:nvSpPr>
          <p:cNvPr id="26" name="Shape 21"/>
          <p:cNvSpPr/>
          <p:nvPr/>
        </p:nvSpPr>
        <p:spPr>
          <a:xfrm>
            <a:off x="8947404" y="48920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7C5CFF">
                <a:alpha val="60000"/>
              </a:srgbClr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9075420" y="5001768"/>
            <a:ext cx="2350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Chanda Kumari</a:t>
            </a:r>
            <a:endParaRPr lang="en-US" sz="1350" dirty="0"/>
          </a:p>
        </p:txBody>
      </p:sp>
      <p:sp>
        <p:nvSpPr>
          <p:cNvPr id="28" name="Text 23"/>
          <p:cNvSpPr txBox="1"/>
          <p:nvPr/>
        </p:nvSpPr>
        <p:spPr>
          <a:xfrm>
            <a:off x="9075420" y="5321808"/>
            <a:ext cx="2350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30" dirty="0">
                <a:solidFill>
                  <a:srgbClr val="C9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Research, Content &amp; Presentation</a:t>
            </a:r>
            <a:endParaRPr lang="en-US" sz="930" dirty="0"/>
          </a:p>
        </p:txBody>
      </p:sp>
      <p:sp>
        <p:nvSpPr>
          <p:cNvPr id="29" name="Text 24"/>
          <p:cNvSpPr txBox="1"/>
          <p:nvPr/>
        </p:nvSpPr>
        <p:spPr>
          <a:xfrm>
            <a:off x="1371600" y="6172200"/>
            <a:ext cx="9445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B8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050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25EA79A2-4FEF-B9D2-68C7-173FD8DFA6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210" y="499110"/>
            <a:ext cx="962089" cy="75057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5B8D1D42-0749-7E67-DC2A-ABD18CFAF0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5621" y="502208"/>
            <a:ext cx="643255" cy="674083"/>
          </a:xfrm>
          <a:prstGeom prst="rect">
            <a:avLst/>
          </a:prstGeom>
        </p:spPr>
      </p:pic>
      <p:sp>
        <p:nvSpPr>
          <p:cNvPr id="37" name="Shape 3">
            <a:extLst>
              <a:ext uri="{FF2B5EF4-FFF2-40B4-BE49-F238E27FC236}">
                <a16:creationId xmlns:a16="http://schemas.microsoft.com/office/drawing/2014/main" id="{D600F008-AE25-87DB-09B6-FE1599E5A31A}"/>
              </a:ext>
            </a:extLst>
          </p:cNvPr>
          <p:cNvSpPr/>
          <p:nvPr/>
        </p:nvSpPr>
        <p:spPr>
          <a:xfrm>
            <a:off x="10528936" y="445770"/>
            <a:ext cx="1271269" cy="85725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39" name="Shape 3">
            <a:extLst>
              <a:ext uri="{FF2B5EF4-FFF2-40B4-BE49-F238E27FC236}">
                <a16:creationId xmlns:a16="http://schemas.microsoft.com/office/drawing/2014/main" id="{54BD6B5D-C985-70FC-9E5E-9839980EBD6B}"/>
              </a:ext>
            </a:extLst>
          </p:cNvPr>
          <p:cNvSpPr/>
          <p:nvPr/>
        </p:nvSpPr>
        <p:spPr>
          <a:xfrm>
            <a:off x="8818310" y="472059"/>
            <a:ext cx="1373917" cy="85725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pic>
        <p:nvPicPr>
          <p:cNvPr id="41" name="Image 2" descr="/home/claude/ibm_logo.png">
            <a:extLst>
              <a:ext uri="{FF2B5EF4-FFF2-40B4-BE49-F238E27FC236}">
                <a16:creationId xmlns:a16="http://schemas.microsoft.com/office/drawing/2014/main" id="{19DDF4F3-B057-DB1E-D474-9130FC4D6B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14580" y="660654"/>
            <a:ext cx="2371249" cy="608076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2D9914C4-2E56-9CB3-3CB6-E770227C2E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33" y="581178"/>
            <a:ext cx="1271269" cy="6572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 Today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70048" cy="1508760"/>
          </a:xfrm>
          <a:prstGeom prst="roundRect">
            <a:avLst>
              <a:gd name="adj" fmla="val 4848"/>
            </a:avLst>
          </a:prstGeom>
          <a:solidFill>
            <a:srgbClr val="EDE9F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91109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7C5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86584"/>
            <a:ext cx="2304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Internship</a:t>
            </a:r>
            <a:endParaRPr lang="en-US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9748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BharatCares × IBM SkillsBuild journey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01568" y="1783080"/>
            <a:ext cx="2670048" cy="1508760"/>
          </a:xfrm>
          <a:prstGeom prst="roundRect">
            <a:avLst>
              <a:gd name="adj" fmla="val 4848"/>
            </a:avLst>
          </a:prstGeom>
          <a:solidFill>
            <a:srgbClr val="EDE9F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84448" y="191109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7C5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584448" y="2386584"/>
            <a:ext cx="2304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3584448" y="269748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founders struggle to structure an idea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54496" y="1783080"/>
            <a:ext cx="2670048" cy="1508760"/>
          </a:xfrm>
          <a:prstGeom prst="roundRect">
            <a:avLst>
              <a:gd name="adj" fmla="val 4848"/>
            </a:avLst>
          </a:prstGeom>
          <a:solidFill>
            <a:srgbClr val="EDE9F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37376" y="191109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7C5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437376" y="2386584"/>
            <a:ext cx="2304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dirty="0"/>
          </a:p>
        </p:txBody>
      </p:sp>
      <p:sp>
        <p:nvSpPr>
          <p:cNvPr id="15" name="Text 13"/>
          <p:cNvSpPr txBox="1"/>
          <p:nvPr/>
        </p:nvSpPr>
        <p:spPr>
          <a:xfrm>
            <a:off x="6437376" y="269748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AI Startup Launchpad solves it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107424" y="1783080"/>
            <a:ext cx="2670048" cy="1508760"/>
          </a:xfrm>
          <a:prstGeom prst="roundRect">
            <a:avLst>
              <a:gd name="adj" fmla="val 4848"/>
            </a:avLst>
          </a:prstGeom>
          <a:solidFill>
            <a:srgbClr val="EDE9F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290304" y="191109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7C5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290304" y="2386584"/>
            <a:ext cx="2304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Product</a:t>
            </a:r>
            <a:endParaRPr lang="en-US" dirty="0"/>
          </a:p>
        </p:txBody>
      </p:sp>
      <p:sp>
        <p:nvSpPr>
          <p:cNvPr id="19" name="Text 17"/>
          <p:cNvSpPr txBox="1"/>
          <p:nvPr/>
        </p:nvSpPr>
        <p:spPr>
          <a:xfrm>
            <a:off x="9235440" y="269748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Features, architecture &amp; screenshots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3520440"/>
            <a:ext cx="2670048" cy="1508760"/>
          </a:xfrm>
          <a:prstGeom prst="roundRect">
            <a:avLst>
              <a:gd name="adj" fmla="val 4848"/>
            </a:avLst>
          </a:prstGeom>
          <a:solidFill>
            <a:srgbClr val="EDE9F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36484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7C5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4123944"/>
            <a:ext cx="2304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43484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technical decisions we made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401568" y="3520440"/>
            <a:ext cx="2670048" cy="1508760"/>
          </a:xfrm>
          <a:prstGeom prst="roundRect">
            <a:avLst>
              <a:gd name="adj" fmla="val 4848"/>
            </a:avLst>
          </a:prstGeom>
          <a:solidFill>
            <a:srgbClr val="EDE9F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84448" y="36484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7C5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3584448" y="4123944"/>
            <a:ext cx="2304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Team</a:t>
            </a:r>
            <a:endParaRPr lang="en-US" dirty="0"/>
          </a:p>
        </p:txBody>
      </p:sp>
      <p:sp>
        <p:nvSpPr>
          <p:cNvPr id="27" name="Text 25"/>
          <p:cNvSpPr txBox="1"/>
          <p:nvPr/>
        </p:nvSpPr>
        <p:spPr>
          <a:xfrm>
            <a:off x="3584448" y="443484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Roles, contributions &amp; what we learned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254496" y="3520440"/>
            <a:ext cx="2670048" cy="1508760"/>
          </a:xfrm>
          <a:prstGeom prst="roundRect">
            <a:avLst>
              <a:gd name="adj" fmla="val 4848"/>
            </a:avLst>
          </a:prstGeom>
          <a:solidFill>
            <a:srgbClr val="EDE9F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37376" y="36484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7C5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437376" y="4123944"/>
            <a:ext cx="2304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dirty="0"/>
          </a:p>
        </p:txBody>
      </p:sp>
      <p:sp>
        <p:nvSpPr>
          <p:cNvPr id="31" name="Text 29"/>
          <p:cNvSpPr txBox="1"/>
          <p:nvPr/>
        </p:nvSpPr>
        <p:spPr>
          <a:xfrm>
            <a:off x="6437376" y="443484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roadmap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Startup Launchpad  ·  Team AetherMinds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PROJECT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Internship Journey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of us completed the BharatCares 6-week ‘IBM SkillsBuild Gen AI &amp; Cloud Computing Internship’, conducted from 22nd June 2026 to 31st July 2026, in association with the All India Council for Technical Education (AICTE) and IBM SkillsBuild.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300984"/>
            <a:ext cx="109728" cy="109728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315468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weeks of structured, hands-on Generative AI &amp; Cloud training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867912"/>
            <a:ext cx="109728" cy="109728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721608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exposure to AI fundamentals, prompt engineering &amp; cloud basics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4434840"/>
            <a:ext cx="109728" cy="109728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4288536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is our practical submission for the internship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257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ASSOCIATION WITH</a:t>
            </a:r>
            <a:endParaRPr lang="en-US" sz="1000" dirty="0"/>
          </a:p>
        </p:txBody>
      </p:sp>
      <p:sp>
        <p:nvSpPr>
          <p:cNvPr id="17" name="Text 11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Startup Launchpad  ·  Team AetherMinds</a:t>
            </a:r>
            <a:endParaRPr lang="en-US" sz="9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11270DD-7893-463F-82EA-582F511043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577840"/>
            <a:ext cx="1271269" cy="657250"/>
          </a:xfrm>
          <a:prstGeom prst="rect">
            <a:avLst/>
          </a:prstGeom>
        </p:spPr>
      </p:pic>
      <p:pic>
        <p:nvPicPr>
          <p:cNvPr id="21" name="Image 2" descr="/home/claude/ibm_logo.png">
            <a:extLst>
              <a:ext uri="{FF2B5EF4-FFF2-40B4-BE49-F238E27FC236}">
                <a16:creationId xmlns:a16="http://schemas.microsoft.com/office/drawing/2014/main" id="{51431157-99F0-64C7-90D1-C892887057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9160" y="5694426"/>
            <a:ext cx="2371249" cy="60807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9ED8121-C9D6-7A9A-88F4-12B5C0E7FF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7907" y="5561007"/>
            <a:ext cx="643255" cy="67408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102E445-C7A5-012B-F1D4-1C8E8BA6BA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2645" y="384048"/>
            <a:ext cx="4777273" cy="59184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Good Idea Isn't the Same as a Structured Pitch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6126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Early-stage founders — especially first-time founders, students, and hackathon participants — usually have a strong intuition for a problem worth solving. What they lack is the structured language investors, mentors, and reviewers expect.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392424"/>
            <a:ext cx="109728" cy="109728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3264408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Founders lose time formatting instead of validating substance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959352"/>
            <a:ext cx="109728" cy="109728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831336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templates give structure — but zero content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4526280"/>
            <a:ext cx="109728" cy="109728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4398264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chatbots give content — but no consistent structure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5093208"/>
            <a:ext cx="109728" cy="109728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965192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Reviewers spend more time decoding notes than judging ideas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086600" y="1828800"/>
            <a:ext cx="4526280" cy="1691640"/>
          </a:xfrm>
          <a:prstGeom prst="roundRect">
            <a:avLst>
              <a:gd name="adj" fmla="val 4324"/>
            </a:avLst>
          </a:prstGeom>
          <a:solidFill>
            <a:srgbClr val="FBEAE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60920" y="19933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B3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TEMPLATE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230428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✓     Content ✗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60920" y="269748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still stuck — just inside labeled boxes instead of a blank page.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086600" y="3703320"/>
            <a:ext cx="4526280" cy="1691640"/>
          </a:xfrm>
          <a:prstGeom prst="roundRect">
            <a:avLst>
              <a:gd name="adj" fmla="val 4324"/>
            </a:avLst>
          </a:prstGeom>
          <a:solidFill>
            <a:srgbClr val="FBEAE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60920" y="38679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B3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AI CHATBOT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360920" y="41788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✓     Structure ✗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60920" y="457200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useful if you already know the right 8-9 questions to ask, in order.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Startup Launchpad  ·  Team AetherMinds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2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Idea In. Eight Structured Sections Out.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C9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Startup Launchpad sits between a blank template and an open-ended chatbot: it supplies both the structure AND a first-pass of the content, in a single submission.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231C42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926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Startup Idea</a:t>
            </a:r>
            <a:endParaRPr lang="en-US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31012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mobile app that helps college students find affordable tiffin services..."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401568" y="31546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60520" y="274320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7C5C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43400" y="2926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</a:t>
            </a: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4343400" y="331012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structured request → predictable, validated 8-section JSON response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013448" y="31546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7772400" y="2743200"/>
            <a:ext cx="3867912" cy="1371600"/>
          </a:xfrm>
          <a:prstGeom prst="roundRect">
            <a:avLst>
              <a:gd name="adj" fmla="val 5333"/>
            </a:avLst>
          </a:prstGeom>
          <a:solidFill>
            <a:srgbClr val="231C42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55280" y="2926080"/>
            <a:ext cx="3502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Structured Sections</a:t>
            </a:r>
            <a:endParaRPr lang="en-US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3310128"/>
            <a:ext cx="3502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Streamed progressively to the browser via Server-Sent Events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4078" y="4663440"/>
            <a:ext cx="1783080" cy="502920"/>
          </a:xfrm>
          <a:prstGeom prst="roundRect">
            <a:avLst>
              <a:gd name="adj" fmla="val 49091"/>
            </a:avLst>
          </a:prstGeom>
          <a:solidFill>
            <a:srgbClr val="231C42"/>
          </a:solidFill>
          <a:ln w="9525">
            <a:solidFill>
              <a:srgbClr val="7C5C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4078" y="46649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9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Summary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777490" y="4656582"/>
            <a:ext cx="1874520" cy="502920"/>
          </a:xfrm>
          <a:prstGeom prst="roundRect">
            <a:avLst>
              <a:gd name="adj" fmla="val 49091"/>
            </a:avLst>
          </a:prstGeom>
          <a:solidFill>
            <a:srgbClr val="231C42"/>
          </a:solidFill>
          <a:ln w="9525">
            <a:solidFill>
              <a:srgbClr val="7C5C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777490" y="46634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9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22342" y="4663440"/>
            <a:ext cx="1691640" cy="502920"/>
          </a:xfrm>
          <a:prstGeom prst="roundRect">
            <a:avLst>
              <a:gd name="adj" fmla="val 49091"/>
            </a:avLst>
          </a:prstGeom>
          <a:solidFill>
            <a:srgbClr val="231C42"/>
          </a:solidFill>
          <a:ln w="9525">
            <a:solidFill>
              <a:srgbClr val="7C5C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22342" y="4657468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9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082028" y="4657468"/>
            <a:ext cx="594360" cy="502920"/>
          </a:xfrm>
          <a:prstGeom prst="roundRect">
            <a:avLst>
              <a:gd name="adj" fmla="val 49091"/>
            </a:avLst>
          </a:prstGeom>
          <a:solidFill>
            <a:srgbClr val="231C42"/>
          </a:solidFill>
          <a:ln w="9525">
            <a:solidFill>
              <a:srgbClr val="7C5CFF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23" name="Text 21"/>
          <p:cNvSpPr txBox="1"/>
          <p:nvPr/>
        </p:nvSpPr>
        <p:spPr>
          <a:xfrm>
            <a:off x="7082028" y="4657468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9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UVP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044434" y="4663440"/>
            <a:ext cx="1508760" cy="502920"/>
          </a:xfrm>
          <a:prstGeom prst="roundRect">
            <a:avLst>
              <a:gd name="adj" fmla="val 49091"/>
            </a:avLst>
          </a:prstGeom>
          <a:solidFill>
            <a:srgbClr val="231C42"/>
          </a:solidFill>
          <a:ln w="9525">
            <a:solidFill>
              <a:srgbClr val="7C5CFF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25" name="Text 23"/>
          <p:cNvSpPr txBox="1"/>
          <p:nvPr/>
        </p:nvSpPr>
        <p:spPr>
          <a:xfrm>
            <a:off x="8023860" y="467020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9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SWOT Analysis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9921240" y="4663440"/>
            <a:ext cx="1417320" cy="502920"/>
          </a:xfrm>
          <a:prstGeom prst="roundRect">
            <a:avLst>
              <a:gd name="adj" fmla="val 49091"/>
            </a:avLst>
          </a:prstGeom>
          <a:solidFill>
            <a:srgbClr val="231C42"/>
          </a:solidFill>
          <a:ln w="9525">
            <a:solidFill>
              <a:srgbClr val="7C5CFF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27" name="Text 25"/>
          <p:cNvSpPr txBox="1"/>
          <p:nvPr/>
        </p:nvSpPr>
        <p:spPr>
          <a:xfrm>
            <a:off x="9910883" y="4670205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9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Features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781044" y="5454396"/>
            <a:ext cx="1508760" cy="502920"/>
          </a:xfrm>
          <a:prstGeom prst="roundRect">
            <a:avLst>
              <a:gd name="adj" fmla="val 49091"/>
            </a:avLst>
          </a:prstGeom>
          <a:solidFill>
            <a:srgbClr val="231C42"/>
          </a:solidFill>
          <a:ln w="9525">
            <a:solidFill>
              <a:srgbClr val="7C5CFF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29" name="Text 27"/>
          <p:cNvSpPr txBox="1"/>
          <p:nvPr/>
        </p:nvSpPr>
        <p:spPr>
          <a:xfrm>
            <a:off x="3797559" y="5454396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9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Model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733288" y="5440680"/>
            <a:ext cx="1600200" cy="502920"/>
          </a:xfrm>
          <a:prstGeom prst="roundRect">
            <a:avLst>
              <a:gd name="adj" fmla="val 49091"/>
            </a:avLst>
          </a:prstGeom>
          <a:solidFill>
            <a:srgbClr val="231C42"/>
          </a:solidFill>
          <a:ln w="9525">
            <a:solidFill>
              <a:srgbClr val="7C5CFF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1" name="Text 29"/>
          <p:cNvSpPr txBox="1"/>
          <p:nvPr/>
        </p:nvSpPr>
        <p:spPr>
          <a:xfrm>
            <a:off x="5716773" y="543610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9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 Pitch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8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Startup Launchpad  ·  Team AetherMinds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IT'S FOR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People Racing a Deadline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EDE9FE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40280"/>
            <a:ext cx="594360" cy="594360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9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9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0175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First-Time</a:t>
            </a:r>
            <a:r>
              <a:rPr lang="en-US" sz="1650" b="1" dirty="0">
                <a:solidFill>
                  <a:srgbClr val="1F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000" b="1" dirty="0">
                <a:solidFill>
                  <a:srgbClr val="1F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Founder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3601617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 strong idea, no formal business background — needs a credible structured draft to build on.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79976" y="19202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EDE9FE"/>
          </a:solidFill>
          <a:ln/>
        </p:spPr>
      </p:sp>
      <p:sp>
        <p:nvSpPr>
          <p:cNvPr id="10" name="Shape 8"/>
          <p:cNvSpPr/>
          <p:nvPr/>
        </p:nvSpPr>
        <p:spPr>
          <a:xfrm>
            <a:off x="4700016" y="2240280"/>
            <a:ext cx="594360" cy="594360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00016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9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90" dirty="0"/>
          </a:p>
        </p:txBody>
      </p:sp>
      <p:sp>
        <p:nvSpPr>
          <p:cNvPr id="12" name="Text 10"/>
          <p:cNvSpPr txBox="1"/>
          <p:nvPr/>
        </p:nvSpPr>
        <p:spPr>
          <a:xfrm>
            <a:off x="4700016" y="2953139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Student / Hackathon Participant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700016" y="3601617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Faces a tight, judged deadline — needs fast, professional-looking output without prior pitch experience.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11312" y="19202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EDE9FE"/>
          </a:solidFill>
          <a:ln/>
        </p:spPr>
      </p:sp>
      <p:sp>
        <p:nvSpPr>
          <p:cNvPr id="15" name="Shape 13"/>
          <p:cNvSpPr/>
          <p:nvPr/>
        </p:nvSpPr>
        <p:spPr>
          <a:xfrm>
            <a:off x="8531352" y="2240280"/>
            <a:ext cx="594360" cy="594360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31352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9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90" dirty="0"/>
          </a:p>
        </p:txBody>
      </p:sp>
      <p:sp>
        <p:nvSpPr>
          <p:cNvPr id="17" name="Text 15"/>
          <p:cNvSpPr txBox="1"/>
          <p:nvPr/>
        </p:nvSpPr>
        <p:spPr>
          <a:xfrm>
            <a:off x="8531352" y="2834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Internship / Accelerator Applicant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531352" y="35661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fill a fixed submission template — needs section-by-section coverage of every required field.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Startup Launchpad  ·  Team AetherMinds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OUTPUT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Eight-Part Business Framework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670048" cy="1554480"/>
          </a:xfrm>
          <a:prstGeom prst="roundRect">
            <a:avLst>
              <a:gd name="adj" fmla="val 5882"/>
            </a:avLst>
          </a:prstGeom>
          <a:solidFill>
            <a:srgbClr val="15122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2103120"/>
            <a:ext cx="457200" cy="457200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97480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Summary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3401568" y="1920240"/>
            <a:ext cx="2670048" cy="1554480"/>
          </a:xfrm>
          <a:prstGeom prst="roundRect">
            <a:avLst>
              <a:gd name="adj" fmla="val 5882"/>
            </a:avLst>
          </a:prstGeom>
          <a:solidFill>
            <a:srgbClr val="15122B"/>
          </a:solidFill>
          <a:ln/>
        </p:spPr>
      </p:sp>
      <p:sp>
        <p:nvSpPr>
          <p:cNvPr id="9" name="Shape 7"/>
          <p:cNvSpPr/>
          <p:nvPr/>
        </p:nvSpPr>
        <p:spPr>
          <a:xfrm>
            <a:off x="3584448" y="2103120"/>
            <a:ext cx="457200" cy="457200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84448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584448" y="2697480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254496" y="1920240"/>
            <a:ext cx="2670048" cy="1554480"/>
          </a:xfrm>
          <a:prstGeom prst="roundRect">
            <a:avLst>
              <a:gd name="adj" fmla="val 5882"/>
            </a:avLst>
          </a:prstGeom>
          <a:solidFill>
            <a:srgbClr val="15122B"/>
          </a:solidFill>
          <a:ln/>
        </p:spPr>
      </p:sp>
      <p:sp>
        <p:nvSpPr>
          <p:cNvPr id="13" name="Shape 11"/>
          <p:cNvSpPr/>
          <p:nvPr/>
        </p:nvSpPr>
        <p:spPr>
          <a:xfrm>
            <a:off x="6437376" y="2103120"/>
            <a:ext cx="457200" cy="457200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37376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37376" y="2697480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9107424" y="1920240"/>
            <a:ext cx="2670048" cy="1554480"/>
          </a:xfrm>
          <a:prstGeom prst="roundRect">
            <a:avLst>
              <a:gd name="adj" fmla="val 5882"/>
            </a:avLst>
          </a:prstGeom>
          <a:solidFill>
            <a:srgbClr val="15122B"/>
          </a:solidFill>
          <a:ln/>
        </p:spPr>
      </p:sp>
      <p:sp>
        <p:nvSpPr>
          <p:cNvPr id="17" name="Shape 15"/>
          <p:cNvSpPr/>
          <p:nvPr/>
        </p:nvSpPr>
        <p:spPr>
          <a:xfrm>
            <a:off x="9290304" y="2103120"/>
            <a:ext cx="457200" cy="457200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290304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290304" y="2697480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Value Proposition</a:t>
            </a: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548640" y="3703320"/>
            <a:ext cx="2670048" cy="1554480"/>
          </a:xfrm>
          <a:prstGeom prst="roundRect">
            <a:avLst>
              <a:gd name="adj" fmla="val 5882"/>
            </a:avLst>
          </a:prstGeom>
          <a:solidFill>
            <a:srgbClr val="15122B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3886200"/>
            <a:ext cx="457200" cy="457200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480560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SWOT Analysis</a:t>
            </a: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3401568" y="3703320"/>
            <a:ext cx="2670048" cy="1554480"/>
          </a:xfrm>
          <a:prstGeom prst="roundRect">
            <a:avLst>
              <a:gd name="adj" fmla="val 5882"/>
            </a:avLst>
          </a:prstGeom>
          <a:solidFill>
            <a:srgbClr val="15122B"/>
          </a:solidFill>
          <a:ln/>
        </p:spPr>
      </p:sp>
      <p:sp>
        <p:nvSpPr>
          <p:cNvPr id="25" name="Shape 23"/>
          <p:cNvSpPr/>
          <p:nvPr/>
        </p:nvSpPr>
        <p:spPr>
          <a:xfrm>
            <a:off x="3584448" y="3886200"/>
            <a:ext cx="457200" cy="457200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584448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584448" y="4480560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Features</a:t>
            </a: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6254496" y="3703320"/>
            <a:ext cx="2670048" cy="1554480"/>
          </a:xfrm>
          <a:prstGeom prst="roundRect">
            <a:avLst>
              <a:gd name="adj" fmla="val 5882"/>
            </a:avLst>
          </a:prstGeom>
          <a:solidFill>
            <a:srgbClr val="15122B"/>
          </a:solidFill>
          <a:ln/>
        </p:spPr>
      </p:sp>
      <p:sp>
        <p:nvSpPr>
          <p:cNvPr id="29" name="Shape 27"/>
          <p:cNvSpPr/>
          <p:nvPr/>
        </p:nvSpPr>
        <p:spPr>
          <a:xfrm>
            <a:off x="6437376" y="3886200"/>
            <a:ext cx="457200" cy="457200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437376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437376" y="4480560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Model</a:t>
            </a: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9107424" y="3703320"/>
            <a:ext cx="2670048" cy="1554480"/>
          </a:xfrm>
          <a:prstGeom prst="roundRect">
            <a:avLst>
              <a:gd name="adj" fmla="val 5882"/>
            </a:avLst>
          </a:prstGeom>
          <a:solidFill>
            <a:srgbClr val="15122B"/>
          </a:solidFill>
          <a:ln/>
        </p:spPr>
      </p:sp>
      <p:sp>
        <p:nvSpPr>
          <p:cNvPr id="33" name="Shape 31"/>
          <p:cNvSpPr/>
          <p:nvPr/>
        </p:nvSpPr>
        <p:spPr>
          <a:xfrm>
            <a:off x="9290304" y="3886200"/>
            <a:ext cx="457200" cy="457200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290304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290304" y="4480560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 Pitch</a:t>
            </a:r>
            <a:endParaRPr lang="en-US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Startup Launchpad  ·  Team AetherMinds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the Product Feel Complete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92808"/>
            <a:ext cx="384048" cy="384048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92" dirty="0"/>
          </a:p>
        </p:txBody>
      </p:sp>
      <p:sp>
        <p:nvSpPr>
          <p:cNvPr id="6" name="Text 4"/>
          <p:cNvSpPr txBox="1"/>
          <p:nvPr/>
        </p:nvSpPr>
        <p:spPr>
          <a:xfrm>
            <a:off x="1078992" y="178308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Analysis</a:t>
            </a:r>
            <a:endParaRPr lang="en-US" dirty="0"/>
          </a:p>
        </p:txBody>
      </p:sp>
      <p:sp>
        <p:nvSpPr>
          <p:cNvPr id="7" name="Text 5"/>
          <p:cNvSpPr txBox="1"/>
          <p:nvPr/>
        </p:nvSpPr>
        <p:spPr>
          <a:xfrm>
            <a:off x="1078992" y="211226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almost any startup concept and get a structured business analysis via Gemini.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309360" y="1892808"/>
            <a:ext cx="384048" cy="384048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0" y="1892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92" dirty="0"/>
          </a:p>
        </p:txBody>
      </p:sp>
      <p:sp>
        <p:nvSpPr>
          <p:cNvPr id="10" name="Text 8"/>
          <p:cNvSpPr txBox="1"/>
          <p:nvPr/>
        </p:nvSpPr>
        <p:spPr>
          <a:xfrm>
            <a:off x="6839712" y="178308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Streaming</a:t>
            </a: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6839712" y="211226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render live via SSE — no blank-screen wait for a single big response.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384048" cy="384048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92" dirty="0"/>
          </a:p>
        </p:txBody>
      </p:sp>
      <p:sp>
        <p:nvSpPr>
          <p:cNvPr id="14" name="Text 12"/>
          <p:cNvSpPr txBox="1"/>
          <p:nvPr/>
        </p:nvSpPr>
        <p:spPr>
          <a:xfrm>
            <a:off x="1078992" y="2999232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&amp; Validated Output</a:t>
            </a:r>
            <a:endParaRPr lang="en-US" dirty="0"/>
          </a:p>
        </p:txBody>
      </p:sp>
      <p:sp>
        <p:nvSpPr>
          <p:cNvPr id="15" name="Text 13"/>
          <p:cNvSpPr txBox="1"/>
          <p:nvPr/>
        </p:nvSpPr>
        <p:spPr>
          <a:xfrm>
            <a:off x="1078992" y="3328416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Gemini's response is validated against a Pydantic schema before reaching the UI.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09360" y="3108960"/>
            <a:ext cx="384048" cy="384048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09360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92" dirty="0"/>
          </a:p>
        </p:txBody>
      </p:sp>
      <p:sp>
        <p:nvSpPr>
          <p:cNvPr id="18" name="Text 16"/>
          <p:cNvSpPr txBox="1"/>
          <p:nvPr/>
        </p:nvSpPr>
        <p:spPr>
          <a:xfrm>
            <a:off x="6839712" y="2999232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Examples</a:t>
            </a:r>
            <a:endParaRPr lang="en-US" dirty="0"/>
          </a:p>
        </p:txBody>
      </p:sp>
      <p:sp>
        <p:nvSpPr>
          <p:cNvPr id="19" name="Text 17"/>
          <p:cNvSpPr txBox="1"/>
          <p:nvPr/>
        </p:nvSpPr>
        <p:spPr>
          <a:xfrm>
            <a:off x="6839712" y="3328416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example ideas so any user can try the tool immediately.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4325112"/>
            <a:ext cx="384048" cy="384048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4325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92" dirty="0"/>
          </a:p>
        </p:txBody>
      </p:sp>
      <p:sp>
        <p:nvSpPr>
          <p:cNvPr id="22" name="Text 20"/>
          <p:cNvSpPr txBox="1"/>
          <p:nvPr/>
        </p:nvSpPr>
        <p:spPr>
          <a:xfrm>
            <a:off x="1078992" y="4215384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/ Light Theme</a:t>
            </a:r>
            <a:endParaRPr lang="en-US" dirty="0"/>
          </a:p>
        </p:txBody>
      </p:sp>
      <p:sp>
        <p:nvSpPr>
          <p:cNvPr id="23" name="Text 21"/>
          <p:cNvSpPr txBox="1"/>
          <p:nvPr/>
        </p:nvSpPr>
        <p:spPr>
          <a:xfrm>
            <a:off x="1078992" y="4544568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theme toggle for a more flexible, comfortable viewing experience.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309360" y="4325112"/>
            <a:ext cx="384048" cy="384048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09360" y="4325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92" dirty="0"/>
          </a:p>
        </p:txBody>
      </p:sp>
      <p:sp>
        <p:nvSpPr>
          <p:cNvPr id="26" name="Text 24"/>
          <p:cNvSpPr txBox="1"/>
          <p:nvPr/>
        </p:nvSpPr>
        <p:spPr>
          <a:xfrm>
            <a:off x="6839712" y="4215384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Export</a:t>
            </a:r>
            <a:endParaRPr lang="en-US" dirty="0"/>
          </a:p>
        </p:txBody>
      </p:sp>
      <p:sp>
        <p:nvSpPr>
          <p:cNvPr id="27" name="Text 25"/>
          <p:cNvSpPr txBox="1"/>
          <p:nvPr/>
        </p:nvSpPr>
        <p:spPr>
          <a:xfrm>
            <a:off x="6839712" y="4544568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can export their generated analysis as a shareable PDF report.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48640" y="5541264"/>
            <a:ext cx="384048" cy="384048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5541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92" dirty="0"/>
          </a:p>
        </p:txBody>
      </p:sp>
      <p:sp>
        <p:nvSpPr>
          <p:cNvPr id="30" name="Text 28"/>
          <p:cNvSpPr txBox="1"/>
          <p:nvPr/>
        </p:nvSpPr>
        <p:spPr>
          <a:xfrm>
            <a:off x="1078992" y="5431536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Responsive</a:t>
            </a:r>
            <a:endParaRPr lang="en-US" dirty="0"/>
          </a:p>
        </p:txBody>
      </p:sp>
      <p:sp>
        <p:nvSpPr>
          <p:cNvPr id="31" name="Text 29"/>
          <p:cNvSpPr txBox="1"/>
          <p:nvPr/>
        </p:nvSpPr>
        <p:spPr>
          <a:xfrm>
            <a:off x="1078992" y="576072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experience across desktop and smaller screen sizes.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309360" y="5541264"/>
            <a:ext cx="384048" cy="384048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309360" y="5541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92" dirty="0"/>
          </a:p>
        </p:txBody>
      </p:sp>
      <p:sp>
        <p:nvSpPr>
          <p:cNvPr id="34" name="Text 32"/>
          <p:cNvSpPr txBox="1"/>
          <p:nvPr/>
        </p:nvSpPr>
        <p:spPr>
          <a:xfrm>
            <a:off x="6839712" y="5431536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API Docs</a:t>
            </a:r>
            <a:endParaRPr lang="en-US" dirty="0"/>
          </a:p>
        </p:txBody>
      </p:sp>
      <p:sp>
        <p:nvSpPr>
          <p:cNvPr id="35" name="Text 33"/>
          <p:cNvSpPr txBox="1"/>
          <p:nvPr/>
        </p:nvSpPr>
        <p:spPr>
          <a:xfrm>
            <a:off x="6839712" y="576072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auto-generates Swagger documentation at /docs.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Startup Launchpad  ·  Team AetherMinds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PRODUCT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In Action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Startup Launchpad  ·  Team AetherMinds</a:t>
            </a:r>
            <a:endParaRPr lang="en-US" sz="9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03677DD-339D-75A5-1C09-CC1B4A71EA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39" y="1502229"/>
            <a:ext cx="10928013" cy="487057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E9CB71-764E-E369-DE80-040EA5DC2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47A0D2-5E87-E812-4B04-0BB80EE98637}"/>
              </a:ext>
            </a:extLst>
          </p:cNvPr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PRODUCT</a:t>
            </a:r>
            <a:endParaRPr lang="en-US" sz="13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CB82450-2CEA-ED1A-DA59-E8351D9A011D}"/>
              </a:ext>
            </a:extLst>
          </p:cNvPr>
          <p:cNvSpPr txBox="1"/>
          <p:nvPr/>
        </p:nvSpPr>
        <p:spPr>
          <a:xfrm>
            <a:off x="548640" y="6583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In Action</a:t>
            </a:r>
            <a:endParaRPr lang="en-US" sz="32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AF13718-3CA8-8955-1A40-7FF50E3225D5}"/>
              </a:ext>
            </a:extLst>
          </p:cNvPr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Startup Launchpad  ·  Team AetherMinds</a:t>
            </a: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371C74-6D4B-5A6C-229C-0BC350CC5F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35607"/>
            <a:ext cx="11091545" cy="4945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5852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 — Step by Step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70048" cy="1234440"/>
          </a:xfrm>
          <a:prstGeom prst="roundRect">
            <a:avLst>
              <a:gd name="adj" fmla="val 5926"/>
            </a:avLst>
          </a:prstGeom>
          <a:solidFill>
            <a:srgbClr val="7C5C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86000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enters a startup idea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218688" y="226314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401568" y="1828800"/>
            <a:ext cx="2670048" cy="1234440"/>
          </a:xfrm>
          <a:prstGeom prst="roundRect">
            <a:avLst>
              <a:gd name="adj" fmla="val 5926"/>
            </a:avLst>
          </a:prstGeom>
          <a:solidFill>
            <a:srgbClr val="7C5C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38728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538728" y="2286000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sends a POST request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071616" y="226314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54496" y="1828800"/>
            <a:ext cx="2670048" cy="1234440"/>
          </a:xfrm>
          <a:prstGeom prst="roundRect">
            <a:avLst>
              <a:gd name="adj" fmla="val 5926"/>
            </a:avLst>
          </a:prstGeom>
          <a:solidFill>
            <a:srgbClr val="7C5C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91656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391656" y="2286000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 receives the idea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924544" y="226314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107424" y="1828800"/>
            <a:ext cx="2670048" cy="1234440"/>
          </a:xfrm>
          <a:prstGeom prst="roundRect">
            <a:avLst>
              <a:gd name="adj" fmla="val 5926"/>
            </a:avLst>
          </a:prstGeom>
          <a:solidFill>
            <a:srgbClr val="7C5C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244584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244584" y="2286000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sends ONE structured request to Gemini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457432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3566160"/>
            <a:ext cx="2670048" cy="1234440"/>
          </a:xfrm>
          <a:prstGeom prst="roundRect">
            <a:avLst>
              <a:gd name="adj" fmla="val 5926"/>
            </a:avLst>
          </a:prstGeom>
          <a:solidFill>
            <a:srgbClr val="EDE9F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85800" y="3657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5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4023360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generates all 8 sections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218688" y="400050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401568" y="3566160"/>
            <a:ext cx="2670048" cy="1234440"/>
          </a:xfrm>
          <a:prstGeom prst="roundRect">
            <a:avLst>
              <a:gd name="adj" fmla="val 5926"/>
            </a:avLst>
          </a:prstGeom>
          <a:solidFill>
            <a:srgbClr val="EDE9F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38728" y="3657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5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3538728" y="4023360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validates the response (Pydantic)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071616" y="400050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254496" y="3566160"/>
            <a:ext cx="2670048" cy="1234440"/>
          </a:xfrm>
          <a:prstGeom prst="roundRect">
            <a:avLst>
              <a:gd name="adj" fmla="val 5926"/>
            </a:avLst>
          </a:prstGeom>
          <a:solidFill>
            <a:srgbClr val="EDE9F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391656" y="3657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5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391656" y="4023360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streams sections via SSE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924544" y="400050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9107424" y="3566160"/>
            <a:ext cx="2670048" cy="1234440"/>
          </a:xfrm>
          <a:prstGeom prst="roundRect">
            <a:avLst>
              <a:gd name="adj" fmla="val 5926"/>
            </a:avLst>
          </a:prstGeom>
          <a:solidFill>
            <a:srgbClr val="EDE9F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9244584" y="3657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5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9244584" y="4023360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renders each section progressively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Startup Launchpad  ·  Team AetherMinds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2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Technology Layers Behind 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79476" y="219456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7C5C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70916" y="24231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70916" y="281635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9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Enters idea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071116" y="2578608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327148" y="219456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231C42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18588" y="24231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418588" y="281635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9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UI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018788" y="2578608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274820" y="219456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7C5C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66260" y="24231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366260" y="281635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9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966460" y="2578608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22492" y="219456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231C42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13932" y="24231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13932" y="281635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9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structured request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914132" y="2578608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170164" y="219456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7C5C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61604" y="24231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261604" y="281635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9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validation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861804" y="2578608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0117836" y="219456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231C42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209276" y="24231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0209276" y="281635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9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events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397764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9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renders the report progressively, then offers PDF export.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85216" y="470916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31C4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68096" y="487375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768096" y="5239512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· CSS · JavaScript · Netlify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334256" y="470916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31C4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517136" y="487375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4517136" y="5239512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 · Uvicorn · Render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083296" y="470916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31C4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266176" y="487375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8266176" y="5239512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API · google-genai SDK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8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Startup Launchpad  ·  Team AetherMinds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DECISION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8 API Calls to 1 — Why It Matters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212080" cy="1691640"/>
          </a:xfrm>
          <a:prstGeom prst="roundRect">
            <a:avLst>
              <a:gd name="adj" fmla="val 4324"/>
            </a:avLst>
          </a:prstGeom>
          <a:solidFill>
            <a:srgbClr val="FBEAE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7510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B3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independent Gemini requests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9748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unnecessary API pressure and risked hitting Gemini's free-tier rate limits.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1828800"/>
            <a:ext cx="5285232" cy="1691640"/>
          </a:xfrm>
          <a:prstGeom prst="roundRect">
            <a:avLst>
              <a:gd name="adj" fmla="val 4324"/>
            </a:avLst>
          </a:prstGeom>
          <a:solidFill>
            <a:srgbClr val="EDE9F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629400" y="197510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5B3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2286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structured Gemini request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269748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all 8 sections as one validated JSON object, then streamed via SSE.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9624"/>
            <a:ext cx="109728" cy="109728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72160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API calls, lower rate-limit risk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72200" y="3849624"/>
            <a:ext cx="109728" cy="109728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46520" y="372160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Simpler, easier-to-maintain backend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416552"/>
            <a:ext cx="109728" cy="109728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288536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Predictable, schema-validated response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72200" y="4416552"/>
            <a:ext cx="109728" cy="109728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46520" y="4288536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still renders progressively via SSE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074920"/>
            <a:ext cx="11091672" cy="685800"/>
          </a:xfrm>
          <a:prstGeom prst="roundRect">
            <a:avLst>
              <a:gd name="adj" fmla="val 8000"/>
            </a:avLst>
          </a:prstGeom>
          <a:solidFill>
            <a:srgbClr val="15122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50749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9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SSE delivers the 8 completed sections progressively — this is not token-by-token Gemini streaming</a:t>
            </a:r>
            <a:r>
              <a:rPr lang="en-US" sz="1100" i="1" dirty="0">
                <a:solidFill>
                  <a:srgbClr val="C9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Startup Launchpad  ·  Team AetherMinds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9983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Built It With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670048" cy="2697480"/>
          </a:xfrm>
          <a:prstGeom prst="roundRect">
            <a:avLst>
              <a:gd name="adj" fmla="val 3425"/>
            </a:avLst>
          </a:prstGeom>
          <a:solidFill>
            <a:srgbClr val="15122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9808" y="226771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7C5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9808" y="2761488"/>
            <a:ext cx="365760" cy="365760"/>
          </a:xfrm>
          <a:prstGeom prst="ellipse">
            <a:avLst/>
          </a:prstGeom>
          <a:solidFill>
            <a:srgbClr val="7C5CFF"/>
          </a:solidFill>
          <a:ln/>
        </p:spPr>
      </p:sp>
      <p:pic>
        <p:nvPicPr>
          <p:cNvPr id="7" name="Image 0" descr="/home/claude/logos/html5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02" y="2830982"/>
            <a:ext cx="226771" cy="22677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88720" y="276148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49808" y="3218688"/>
            <a:ext cx="365760" cy="365760"/>
          </a:xfrm>
          <a:prstGeom prst="ellipse">
            <a:avLst/>
          </a:prstGeom>
          <a:solidFill>
            <a:srgbClr val="7C5CFF"/>
          </a:solidFill>
          <a:ln/>
        </p:spPr>
      </p:sp>
      <p:pic>
        <p:nvPicPr>
          <p:cNvPr id="10" name="Image 1" descr="/home/claude/logos/javascrip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" y="3288182"/>
            <a:ext cx="226771" cy="22677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88720" y="321868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49808" y="368686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API / SSE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089196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UI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3401568" y="2103120"/>
            <a:ext cx="2670048" cy="2697480"/>
          </a:xfrm>
          <a:prstGeom prst="roundRect">
            <a:avLst>
              <a:gd name="adj" fmla="val 3425"/>
            </a:avLst>
          </a:prstGeom>
          <a:solidFill>
            <a:srgbClr val="EDE9FE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3602736" y="226771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3F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dirty="0"/>
          </a:p>
        </p:txBody>
      </p:sp>
      <p:sp>
        <p:nvSpPr>
          <p:cNvPr id="16" name="Shape 12"/>
          <p:cNvSpPr/>
          <p:nvPr/>
        </p:nvSpPr>
        <p:spPr>
          <a:xfrm>
            <a:off x="3602736" y="2761488"/>
            <a:ext cx="365760" cy="365760"/>
          </a:xfrm>
          <a:prstGeom prst="ellipse">
            <a:avLst/>
          </a:prstGeom>
          <a:solidFill>
            <a:srgbClr val="7C5CFF"/>
          </a:solidFill>
          <a:ln/>
        </p:spPr>
      </p:sp>
      <p:pic>
        <p:nvPicPr>
          <p:cNvPr id="17" name="Image 2" descr="/home/claude/logos/python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2230" y="2830982"/>
            <a:ext cx="226771" cy="226771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041648" y="276148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3602736" y="3218688"/>
            <a:ext cx="365760" cy="365760"/>
          </a:xfrm>
          <a:prstGeom prst="ellipse">
            <a:avLst/>
          </a:prstGeom>
          <a:solidFill>
            <a:srgbClr val="7C5CFF"/>
          </a:solidFill>
          <a:ln/>
        </p:spPr>
      </p:sp>
      <p:pic>
        <p:nvPicPr>
          <p:cNvPr id="20" name="Image 3" descr="/home/claude/logos/fastapi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72230" y="3288182"/>
            <a:ext cx="226771" cy="22677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041648" y="321868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3621024" y="3653942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Uvicorn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3621024" y="399994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254496" y="2103120"/>
            <a:ext cx="2670048" cy="2697480"/>
          </a:xfrm>
          <a:prstGeom prst="roundRect">
            <a:avLst>
              <a:gd name="adj" fmla="val 3425"/>
            </a:avLst>
          </a:prstGeom>
          <a:solidFill>
            <a:srgbClr val="15122B"/>
          </a:solidFill>
          <a:ln/>
        </p:spPr>
      </p:sp>
      <p:sp>
        <p:nvSpPr>
          <p:cNvPr id="25" name="Text 19"/>
          <p:cNvSpPr txBox="1"/>
          <p:nvPr/>
        </p:nvSpPr>
        <p:spPr>
          <a:xfrm>
            <a:off x="6455664" y="226771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7C5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Artificial Intelligence</a:t>
            </a:r>
            <a:endParaRPr lang="en-US" dirty="0"/>
          </a:p>
        </p:txBody>
      </p:sp>
      <p:sp>
        <p:nvSpPr>
          <p:cNvPr id="26" name="Shape 20"/>
          <p:cNvSpPr/>
          <p:nvPr/>
        </p:nvSpPr>
        <p:spPr>
          <a:xfrm>
            <a:off x="6455664" y="2761488"/>
            <a:ext cx="365760" cy="365760"/>
          </a:xfrm>
          <a:prstGeom prst="ellipse">
            <a:avLst/>
          </a:prstGeom>
          <a:solidFill>
            <a:srgbClr val="7C5CFF"/>
          </a:solidFill>
          <a:ln/>
        </p:spPr>
      </p:sp>
      <p:pic>
        <p:nvPicPr>
          <p:cNvPr id="27" name="Image 4" descr="/home/claude/logos/googlegemini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5158" y="2830982"/>
            <a:ext cx="226771" cy="226771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94576" y="276148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API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6455664" y="3218688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google-genai SDK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6455664" y="3675888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JSON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9107424" y="2103120"/>
            <a:ext cx="2670048" cy="2697480"/>
          </a:xfrm>
          <a:prstGeom prst="roundRect">
            <a:avLst>
              <a:gd name="adj" fmla="val 3425"/>
            </a:avLst>
          </a:prstGeom>
          <a:solidFill>
            <a:srgbClr val="EDE9FE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9308592" y="226771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3F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</a:t>
            </a:r>
            <a:endParaRPr lang="en-US" dirty="0"/>
          </a:p>
        </p:txBody>
      </p:sp>
      <p:sp>
        <p:nvSpPr>
          <p:cNvPr id="33" name="Shape 26"/>
          <p:cNvSpPr/>
          <p:nvPr/>
        </p:nvSpPr>
        <p:spPr>
          <a:xfrm>
            <a:off x="9308592" y="2761488"/>
            <a:ext cx="365760" cy="365760"/>
          </a:xfrm>
          <a:prstGeom prst="ellipse">
            <a:avLst/>
          </a:prstGeom>
          <a:solidFill>
            <a:srgbClr val="7C5CFF"/>
          </a:solidFill>
          <a:ln/>
        </p:spPr>
      </p:sp>
      <p:pic>
        <p:nvPicPr>
          <p:cNvPr id="34" name="Image 5" descr="/home/claude/logos/netlify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78086" y="2830982"/>
            <a:ext cx="226771" cy="226771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9747504" y="276148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 — Frontend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9308592" y="3218688"/>
            <a:ext cx="365760" cy="365760"/>
          </a:xfrm>
          <a:prstGeom prst="ellipse">
            <a:avLst/>
          </a:prstGeom>
          <a:solidFill>
            <a:srgbClr val="7C5CFF"/>
          </a:solidFill>
          <a:ln/>
        </p:spPr>
      </p:sp>
      <p:pic>
        <p:nvPicPr>
          <p:cNvPr id="37" name="Image 6" descr="/home/claude/logos/render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78086" y="3288182"/>
            <a:ext cx="226771" cy="226771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9747504" y="321868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— Backend</a:t>
            </a:r>
            <a:endParaRPr lang="en-US" sz="1400" dirty="0"/>
          </a:p>
        </p:txBody>
      </p:sp>
      <p:sp>
        <p:nvSpPr>
          <p:cNvPr id="39" name="Shape 30"/>
          <p:cNvSpPr/>
          <p:nvPr/>
        </p:nvSpPr>
        <p:spPr>
          <a:xfrm>
            <a:off x="9308592" y="3675888"/>
            <a:ext cx="365760" cy="365760"/>
          </a:xfrm>
          <a:prstGeom prst="ellipse">
            <a:avLst/>
          </a:prstGeom>
          <a:solidFill>
            <a:srgbClr val="7C5CFF"/>
          </a:solidFill>
          <a:ln/>
        </p:spPr>
      </p:sp>
      <p:pic>
        <p:nvPicPr>
          <p:cNvPr id="40" name="Image 7" descr="/home/claude/logos/github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78086" y="3745382"/>
            <a:ext cx="226771" cy="226771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9747504" y="367588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— Source Control</a:t>
            </a:r>
            <a:endParaRPr lang="en-US" sz="1400" dirty="0"/>
          </a:p>
        </p:txBody>
      </p:sp>
      <p:sp>
        <p:nvSpPr>
          <p:cNvPr id="42" name="Text 32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Startup Launchpad  ·  Team AetherMinds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512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COLLABORATION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Git &amp; GitHub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84632" y="2103120"/>
            <a:ext cx="1298448" cy="1005840"/>
          </a:xfrm>
          <a:prstGeom prst="roundRect">
            <a:avLst>
              <a:gd name="adj" fmla="val 6364"/>
            </a:avLst>
          </a:prstGeom>
          <a:solidFill>
            <a:srgbClr val="7C5C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39496" y="210312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branch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2441448"/>
            <a:ext cx="118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901952" y="2103120"/>
            <a:ext cx="1298448" cy="1005840"/>
          </a:xfrm>
          <a:prstGeom prst="roundRect">
            <a:avLst>
              <a:gd name="adj" fmla="val 6364"/>
            </a:avLst>
          </a:prstGeom>
          <a:solidFill>
            <a:srgbClr val="231C42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56816" y="210312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branch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2441448"/>
            <a:ext cx="118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19272" y="2103120"/>
            <a:ext cx="1298448" cy="1005840"/>
          </a:xfrm>
          <a:prstGeom prst="roundRect">
            <a:avLst>
              <a:gd name="adj" fmla="val 6364"/>
            </a:avLst>
          </a:prstGeom>
          <a:solidFill>
            <a:srgbClr val="7C5C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74136" y="210312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441448"/>
            <a:ext cx="118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36592" y="2103120"/>
            <a:ext cx="1298448" cy="1005840"/>
          </a:xfrm>
          <a:prstGeom prst="roundRect">
            <a:avLst>
              <a:gd name="adj" fmla="val 6364"/>
            </a:avLst>
          </a:prstGeom>
          <a:solidFill>
            <a:srgbClr val="231C42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10312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441448"/>
            <a:ext cx="118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53912" y="2103120"/>
            <a:ext cx="1298448" cy="1005840"/>
          </a:xfrm>
          <a:prstGeom prst="roundRect">
            <a:avLst>
              <a:gd name="adj" fmla="val 6364"/>
            </a:avLst>
          </a:prstGeom>
          <a:solidFill>
            <a:srgbClr val="7C5C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08776" y="210312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2441448"/>
            <a:ext cx="118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571232" y="2103120"/>
            <a:ext cx="1298448" cy="1005840"/>
          </a:xfrm>
          <a:prstGeom prst="roundRect">
            <a:avLst>
              <a:gd name="adj" fmla="val 6364"/>
            </a:avLst>
          </a:prstGeom>
          <a:solidFill>
            <a:srgbClr val="231C42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26096" y="210312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869680" y="2441448"/>
            <a:ext cx="118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988552" y="2103120"/>
            <a:ext cx="1298448" cy="1005840"/>
          </a:xfrm>
          <a:prstGeom prst="roundRect">
            <a:avLst>
              <a:gd name="adj" fmla="val 6364"/>
            </a:avLst>
          </a:prstGeom>
          <a:solidFill>
            <a:srgbClr val="7C5C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043416" y="210312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287000" y="2441448"/>
            <a:ext cx="118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0405872" y="2103120"/>
            <a:ext cx="1298448" cy="1005840"/>
          </a:xfrm>
          <a:prstGeom prst="roundRect">
            <a:avLst>
              <a:gd name="adj" fmla="val 6364"/>
            </a:avLst>
          </a:prstGeom>
          <a:solidFill>
            <a:srgbClr val="231C42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460736" y="210312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to main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097280" y="3813048"/>
            <a:ext cx="109728" cy="109728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371600" y="3675888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9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team member worked on their own feature branch before merging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097280" y="4407408"/>
            <a:ext cx="109728" cy="109728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371600" y="4264276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9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requests were reviewed before merging into main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1097280" y="5001768"/>
            <a:ext cx="109728" cy="109728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371600" y="4864608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9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kept a clear history of who contributed what, and when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097280" y="5623560"/>
            <a:ext cx="9994392" cy="685800"/>
          </a:xfrm>
          <a:prstGeom prst="roundRect">
            <a:avLst>
              <a:gd name="adj" fmla="val 8000"/>
            </a:avLst>
          </a:prstGeom>
          <a:solidFill>
            <a:srgbClr val="231C42"/>
          </a:solidFill>
          <a:ln w="9525">
            <a:solidFill>
              <a:srgbClr val="7C5CFF">
                <a:alpha val="6000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325880" y="5623560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7C5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 a merge:  git checkout main   →   git pull origin main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8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Startup Launchpad  ·  Team AetherMinds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Roles &amp; Individual Contributions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724912" cy="4297680"/>
          </a:xfrm>
          <a:prstGeom prst="roundRect">
            <a:avLst>
              <a:gd name="adj" fmla="val 3356"/>
            </a:avLst>
          </a:prstGeom>
          <a:solidFill>
            <a:srgbClr val="EDE9FE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938528"/>
            <a:ext cx="502920" cy="502920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938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43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826561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Dakshita Biwal</a:t>
            </a:r>
            <a:endParaRPr lang="en-US" dirty="0"/>
          </a:p>
        </p:txBody>
      </p:sp>
      <p:sp>
        <p:nvSpPr>
          <p:cNvPr id="8" name="Text 6"/>
          <p:cNvSpPr txBox="1"/>
          <p:nvPr/>
        </p:nvSpPr>
        <p:spPr>
          <a:xfrm>
            <a:off x="1380744" y="2194560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5B3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9808" y="2916936"/>
            <a:ext cx="73152" cy="73152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775204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development &amp; FastAPI architecture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49808" y="3447288"/>
            <a:ext cx="73152" cy="73152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300984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API integration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49808" y="3977640"/>
            <a:ext cx="73152" cy="73152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776472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AI response design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49808" y="4507992"/>
            <a:ext cx="73152" cy="73152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23544" y="4304585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Server-Sent Events implementation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49808" y="5038344"/>
            <a:ext cx="73152" cy="73152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4832605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testing &amp; deployment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49808" y="5568696"/>
            <a:ext cx="73152" cy="73152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5365988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 management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419856" y="1709928"/>
            <a:ext cx="2724912" cy="4297680"/>
          </a:xfrm>
          <a:prstGeom prst="roundRect">
            <a:avLst>
              <a:gd name="adj" fmla="val 3356"/>
            </a:avLst>
          </a:prstGeom>
          <a:solidFill>
            <a:srgbClr val="EDE9FE"/>
          </a:solidFill>
          <a:ln/>
        </p:spPr>
      </p:sp>
      <p:sp>
        <p:nvSpPr>
          <p:cNvPr id="22" name="Shape 20"/>
          <p:cNvSpPr/>
          <p:nvPr/>
        </p:nvSpPr>
        <p:spPr>
          <a:xfrm>
            <a:off x="3621024" y="1938528"/>
            <a:ext cx="502920" cy="502920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621024" y="1938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430" dirty="0"/>
          </a:p>
        </p:txBody>
      </p:sp>
      <p:sp>
        <p:nvSpPr>
          <p:cNvPr id="24" name="Text 22"/>
          <p:cNvSpPr txBox="1"/>
          <p:nvPr/>
        </p:nvSpPr>
        <p:spPr>
          <a:xfrm>
            <a:off x="4224528" y="1826561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Raunak Mishra</a:t>
            </a:r>
            <a:endParaRPr lang="en-US" dirty="0"/>
          </a:p>
        </p:txBody>
      </p:sp>
      <p:sp>
        <p:nvSpPr>
          <p:cNvPr id="25" name="Text 23"/>
          <p:cNvSpPr txBox="1"/>
          <p:nvPr/>
        </p:nvSpPr>
        <p:spPr>
          <a:xfrm>
            <a:off x="4224528" y="2265473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5B3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Development &amp; UI/UX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621024" y="2916936"/>
            <a:ext cx="73152" cy="73152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831336" y="2715022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implementation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621024" y="3447288"/>
            <a:ext cx="73152" cy="73152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31336" y="3228299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 improvements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21024" y="3977640"/>
            <a:ext cx="73152" cy="73152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785616" y="3776472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design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3621024" y="4507992"/>
            <a:ext cx="73152" cy="73152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785616" y="4328285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 analysis interface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21024" y="5038344"/>
            <a:ext cx="73152" cy="73152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11742" y="4823460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interaction logic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21024" y="5568696"/>
            <a:ext cx="73152" cy="73152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802038" y="5348073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presentation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91072" y="1682496"/>
            <a:ext cx="2724912" cy="4297680"/>
          </a:xfrm>
          <a:prstGeom prst="roundRect">
            <a:avLst>
              <a:gd name="adj" fmla="val 3356"/>
            </a:avLst>
          </a:prstGeom>
          <a:solidFill>
            <a:srgbClr val="EDE9FE"/>
          </a:solidFill>
          <a:ln/>
        </p:spPr>
      </p:sp>
      <p:sp>
        <p:nvSpPr>
          <p:cNvPr id="39" name="Shape 37"/>
          <p:cNvSpPr/>
          <p:nvPr/>
        </p:nvSpPr>
        <p:spPr>
          <a:xfrm>
            <a:off x="6492240" y="1938528"/>
            <a:ext cx="502920" cy="502920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92240" y="1938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30" dirty="0"/>
          </a:p>
        </p:txBody>
      </p:sp>
      <p:sp>
        <p:nvSpPr>
          <p:cNvPr id="41" name="Text 39"/>
          <p:cNvSpPr txBox="1"/>
          <p:nvPr/>
        </p:nvSpPr>
        <p:spPr>
          <a:xfrm>
            <a:off x="7114032" y="1826561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 Singh</a:t>
            </a:r>
            <a:endParaRPr lang="en-US" dirty="0"/>
          </a:p>
        </p:txBody>
      </p:sp>
      <p:sp>
        <p:nvSpPr>
          <p:cNvPr id="42" name="Text 40"/>
          <p:cNvSpPr txBox="1"/>
          <p:nvPr/>
        </p:nvSpPr>
        <p:spPr>
          <a:xfrm>
            <a:off x="7114032" y="2304288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5B3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Documentation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6492240" y="2916936"/>
            <a:ext cx="73152" cy="73152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656832" y="2704572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testing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6492240" y="3447288"/>
            <a:ext cx="73152" cy="73152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656832" y="3223541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case design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492240" y="3977640"/>
            <a:ext cx="73152" cy="73152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656832" y="3743069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6492240" y="4507992"/>
            <a:ext cx="73152" cy="73152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656832" y="4277713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support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6492240" y="5038344"/>
            <a:ext cx="73152" cy="73152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656832" y="4827985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preparation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9162288" y="1737360"/>
            <a:ext cx="2724912" cy="4297680"/>
          </a:xfrm>
          <a:prstGeom prst="roundRect">
            <a:avLst>
              <a:gd name="adj" fmla="val 3356"/>
            </a:avLst>
          </a:prstGeom>
          <a:solidFill>
            <a:srgbClr val="EDE9FE"/>
          </a:solidFill>
          <a:ln/>
        </p:spPr>
      </p:sp>
      <p:sp>
        <p:nvSpPr>
          <p:cNvPr id="54" name="Shape 52"/>
          <p:cNvSpPr/>
          <p:nvPr/>
        </p:nvSpPr>
        <p:spPr>
          <a:xfrm>
            <a:off x="9363456" y="1938528"/>
            <a:ext cx="502920" cy="502920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9363456" y="1938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30" dirty="0"/>
          </a:p>
        </p:txBody>
      </p:sp>
      <p:sp>
        <p:nvSpPr>
          <p:cNvPr id="56" name="Text 54"/>
          <p:cNvSpPr txBox="1"/>
          <p:nvPr/>
        </p:nvSpPr>
        <p:spPr>
          <a:xfrm>
            <a:off x="9985248" y="1826561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Chanda Kumari</a:t>
            </a:r>
            <a:endParaRPr lang="en-US" dirty="0"/>
          </a:p>
        </p:txBody>
      </p:sp>
      <p:sp>
        <p:nvSpPr>
          <p:cNvPr id="57" name="Text 55"/>
          <p:cNvSpPr txBox="1"/>
          <p:nvPr/>
        </p:nvSpPr>
        <p:spPr>
          <a:xfrm>
            <a:off x="9985248" y="2304288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5B3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Research, Content &amp; Presentation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9363456" y="2916936"/>
            <a:ext cx="73152" cy="73152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9528048" y="2692908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 / business research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9363456" y="3447288"/>
            <a:ext cx="73152" cy="73152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9528048" y="3225406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preparation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9363456" y="3977640"/>
            <a:ext cx="73152" cy="73152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528048" y="3763036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support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9363456" y="4507992"/>
            <a:ext cx="73152" cy="73152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528048" y="4305425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explanation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9363456" y="5038344"/>
            <a:ext cx="73152" cy="73152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9528048" y="4807505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assistance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Startup Launchpad  ·  Team AetherMinds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512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GAINED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Learned Through This Project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611880" cy="960120"/>
          </a:xfrm>
          <a:prstGeom prst="roundRect">
            <a:avLst>
              <a:gd name="adj" fmla="val 7619"/>
            </a:avLst>
          </a:prstGeom>
          <a:solidFill>
            <a:srgbClr val="231C42"/>
          </a:solidFill>
          <a:ln w="9525">
            <a:solidFill>
              <a:srgbClr val="7C5C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74520"/>
            <a:ext cx="3246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&amp; REST APIs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43400" y="1874520"/>
            <a:ext cx="3611880" cy="960120"/>
          </a:xfrm>
          <a:prstGeom prst="roundRect">
            <a:avLst>
              <a:gd name="adj" fmla="val 7619"/>
            </a:avLst>
          </a:prstGeom>
          <a:solidFill>
            <a:srgbClr val="231C42"/>
          </a:solidFill>
          <a:ln w="9525">
            <a:solidFill>
              <a:srgbClr val="7C5CFF">
                <a:alpha val="6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874520"/>
            <a:ext cx="3246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schema validation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138160" y="1874520"/>
            <a:ext cx="3611880" cy="960120"/>
          </a:xfrm>
          <a:prstGeom prst="roundRect">
            <a:avLst>
              <a:gd name="adj" fmla="val 7619"/>
            </a:avLst>
          </a:prstGeom>
          <a:solidFill>
            <a:srgbClr val="231C42"/>
          </a:solidFill>
          <a:ln w="9525">
            <a:solidFill>
              <a:srgbClr val="7C5CFF">
                <a:alpha val="6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21040" y="1874520"/>
            <a:ext cx="3246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API &amp; Google GenAI SDK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017520"/>
            <a:ext cx="3611880" cy="960120"/>
          </a:xfrm>
          <a:prstGeom prst="roundRect">
            <a:avLst>
              <a:gd name="adj" fmla="val 7619"/>
            </a:avLst>
          </a:prstGeom>
          <a:solidFill>
            <a:srgbClr val="231C42"/>
          </a:solidFill>
          <a:ln w="9525">
            <a:solidFill>
              <a:srgbClr val="7C5CFF">
                <a:alpha val="6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017520"/>
            <a:ext cx="3246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AI responses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43400" y="3017520"/>
            <a:ext cx="3611880" cy="960120"/>
          </a:xfrm>
          <a:prstGeom prst="roundRect">
            <a:avLst>
              <a:gd name="adj" fmla="val 7619"/>
            </a:avLst>
          </a:prstGeom>
          <a:solidFill>
            <a:srgbClr val="231C42"/>
          </a:solidFill>
          <a:ln w="9525">
            <a:solidFill>
              <a:srgbClr val="7C5CFF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6280" y="3017520"/>
            <a:ext cx="3246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Server-Sent Events (SSE)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138160" y="3017520"/>
            <a:ext cx="3611880" cy="960120"/>
          </a:xfrm>
          <a:prstGeom prst="roundRect">
            <a:avLst>
              <a:gd name="adj" fmla="val 7619"/>
            </a:avLst>
          </a:prstGeom>
          <a:solidFill>
            <a:srgbClr val="231C42"/>
          </a:solidFill>
          <a:ln w="9525">
            <a:solidFill>
              <a:srgbClr val="7C5CFF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3017520"/>
            <a:ext cx="3246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Asynchronous Python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160520"/>
            <a:ext cx="3611880" cy="960120"/>
          </a:xfrm>
          <a:prstGeom prst="roundRect">
            <a:avLst>
              <a:gd name="adj" fmla="val 7619"/>
            </a:avLst>
          </a:prstGeom>
          <a:solidFill>
            <a:srgbClr val="231C42"/>
          </a:solidFill>
          <a:ln w="9525">
            <a:solidFill>
              <a:srgbClr val="7C5CFF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160520"/>
            <a:ext cx="3246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Fetch API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43400" y="4160520"/>
            <a:ext cx="3611880" cy="960120"/>
          </a:xfrm>
          <a:prstGeom prst="roundRect">
            <a:avLst>
              <a:gd name="adj" fmla="val 7619"/>
            </a:avLst>
          </a:prstGeom>
          <a:solidFill>
            <a:srgbClr val="231C42"/>
          </a:solidFill>
          <a:ln w="9525">
            <a:solidFill>
              <a:srgbClr val="7C5CFF">
                <a:alpha val="6000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26280" y="4160520"/>
            <a:ext cx="3246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frontend development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138160" y="4160520"/>
            <a:ext cx="3611880" cy="960120"/>
          </a:xfrm>
          <a:prstGeom prst="roundRect">
            <a:avLst>
              <a:gd name="adj" fmla="val 7619"/>
            </a:avLst>
          </a:prstGeom>
          <a:solidFill>
            <a:srgbClr val="231C42"/>
          </a:solidFill>
          <a:ln w="9525">
            <a:solidFill>
              <a:srgbClr val="7C5CFF">
                <a:alpha val="6000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21040" y="4160520"/>
            <a:ext cx="3246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workflows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48640" y="5303520"/>
            <a:ext cx="3611880" cy="960120"/>
          </a:xfrm>
          <a:prstGeom prst="roundRect">
            <a:avLst>
              <a:gd name="adj" fmla="val 7619"/>
            </a:avLst>
          </a:prstGeom>
          <a:solidFill>
            <a:srgbClr val="231C42"/>
          </a:solidFill>
          <a:ln w="9525">
            <a:solidFill>
              <a:srgbClr val="7C5CFF">
                <a:alpha val="6000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5303520"/>
            <a:ext cx="3246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requests &amp; code review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43400" y="5303520"/>
            <a:ext cx="3611880" cy="960120"/>
          </a:xfrm>
          <a:prstGeom prst="roundRect">
            <a:avLst>
              <a:gd name="adj" fmla="val 7619"/>
            </a:avLst>
          </a:prstGeom>
          <a:solidFill>
            <a:srgbClr val="231C42"/>
          </a:solidFill>
          <a:ln w="9525">
            <a:solidFill>
              <a:srgbClr val="7C5CFF">
                <a:alpha val="6000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26280" y="5303520"/>
            <a:ext cx="3246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 &amp; Render deployment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8160" y="5303520"/>
            <a:ext cx="3611880" cy="960120"/>
          </a:xfrm>
          <a:prstGeom prst="roundRect">
            <a:avLst>
              <a:gd name="adj" fmla="val 7619"/>
            </a:avLst>
          </a:prstGeom>
          <a:solidFill>
            <a:srgbClr val="231C42"/>
          </a:solidFill>
          <a:ln w="9525">
            <a:solidFill>
              <a:srgbClr val="7C5CFF">
                <a:alpha val="6000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21040" y="5303520"/>
            <a:ext cx="3246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variables &amp; API security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8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Startup Launchpad  ·  Team AetherMinds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YOURSELF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Project Is Live — Here's Where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EDE9FE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240280"/>
            <a:ext cx="502920" cy="502920"/>
          </a:xfrm>
          <a:prstGeom prst="ellipse">
            <a:avLst/>
          </a:prstGeom>
          <a:solidFill>
            <a:srgbClr val="7C5CFF"/>
          </a:solidFill>
          <a:ln/>
        </p:spPr>
      </p:sp>
      <p:pic>
        <p:nvPicPr>
          <p:cNvPr id="6" name="Image 0" descr="/home/claude/logos/netlif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795" y="2335835"/>
            <a:ext cx="311810" cy="3118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21488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Website</a:t>
            </a:r>
            <a:endParaRPr lang="en-US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54203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3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ai-startup-launchpad.netlify.app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63640" y="192024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EDE9FE"/>
          </a:solidFill>
          <a:ln/>
        </p:spPr>
      </p:sp>
      <p:sp>
        <p:nvSpPr>
          <p:cNvPr id="10" name="Shape 7"/>
          <p:cNvSpPr/>
          <p:nvPr/>
        </p:nvSpPr>
        <p:spPr>
          <a:xfrm>
            <a:off x="6492240" y="2240280"/>
            <a:ext cx="502920" cy="502920"/>
          </a:xfrm>
          <a:prstGeom prst="ellipse">
            <a:avLst/>
          </a:prstGeom>
          <a:solidFill>
            <a:srgbClr val="7C5CFF"/>
          </a:solidFill>
          <a:ln/>
        </p:spPr>
      </p:sp>
      <p:pic>
        <p:nvPicPr>
          <p:cNvPr id="11" name="Image 1" descr="/home/claude/logos/rend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7795" y="2335835"/>
            <a:ext cx="311810" cy="31181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78040" y="21488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</a:t>
            </a:r>
            <a:endParaRPr lang="en-US" dirty="0"/>
          </a:p>
        </p:txBody>
      </p:sp>
      <p:sp>
        <p:nvSpPr>
          <p:cNvPr id="13" name="Text 9"/>
          <p:cNvSpPr txBox="1"/>
          <p:nvPr/>
        </p:nvSpPr>
        <p:spPr>
          <a:xfrm>
            <a:off x="7178040" y="254203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3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ai-startup-launchpad.onrender.com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48640" y="36576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EDE9FE"/>
          </a:solidFill>
          <a:ln/>
        </p:spPr>
      </p:sp>
      <p:sp>
        <p:nvSpPr>
          <p:cNvPr id="15" name="Shape 11"/>
          <p:cNvSpPr/>
          <p:nvPr/>
        </p:nvSpPr>
        <p:spPr>
          <a:xfrm>
            <a:off x="777240" y="3977640"/>
            <a:ext cx="502920" cy="502920"/>
          </a:xfrm>
          <a:prstGeom prst="ellipse">
            <a:avLst/>
          </a:prstGeom>
          <a:solidFill>
            <a:srgbClr val="7C5CFF"/>
          </a:solidFill>
          <a:ln/>
        </p:spPr>
      </p:sp>
      <p:pic>
        <p:nvPicPr>
          <p:cNvPr id="16" name="Image 2" descr="/home/claude/logos/fastapi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795" y="4073195"/>
            <a:ext cx="311810" cy="31181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8862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Documentation</a:t>
            </a:r>
            <a:endParaRPr lang="en-US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27939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3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ai-startup-launchpad.onrender.com/docs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263640" y="36576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EDE9FE"/>
          </a:solidFill>
          <a:ln/>
        </p:spPr>
      </p:sp>
      <p:sp>
        <p:nvSpPr>
          <p:cNvPr id="20" name="Shape 15"/>
          <p:cNvSpPr/>
          <p:nvPr/>
        </p:nvSpPr>
        <p:spPr>
          <a:xfrm>
            <a:off x="6492240" y="3977640"/>
            <a:ext cx="502920" cy="502920"/>
          </a:xfrm>
          <a:prstGeom prst="ellipse">
            <a:avLst/>
          </a:prstGeom>
          <a:solidFill>
            <a:srgbClr val="7C5CFF"/>
          </a:solidFill>
          <a:ln/>
        </p:spPr>
      </p:sp>
      <p:pic>
        <p:nvPicPr>
          <p:cNvPr id="21" name="Image 3" descr="/home/claude/logos/github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7795" y="4073195"/>
            <a:ext cx="311810" cy="31181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78040" y="38862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dirty="0"/>
          </a:p>
        </p:txBody>
      </p:sp>
      <p:sp>
        <p:nvSpPr>
          <p:cNvPr id="23" name="Text 17"/>
          <p:cNvSpPr txBox="1"/>
          <p:nvPr/>
        </p:nvSpPr>
        <p:spPr>
          <a:xfrm>
            <a:off x="7178040" y="427939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3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github.com/dakshita01/ai-startup-launchpad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Startup Launchpad  ·  Team AetherMinds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Scope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EDE9F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87452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43400" y="187452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EDE9F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26280" y="187452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analyses &amp; history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138160" y="187452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EDE9F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321040" y="187452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 comparison tool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EDE9F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310896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 research module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43400" y="310896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EDE9F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26280" y="310896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Market-size estimation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138160" y="310896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EDE9F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21040" y="310896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AI-generated business model canvas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34340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EDE9F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434340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AI-generated pitch deck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43400" y="434340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EDE9F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26280" y="434340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projections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138160" y="434340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EDE9F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321040" y="434340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collaboration features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can be added incrementally without changing the current frontend/backend architecture.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Startup Launchpad  ·  Team AetherMinds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512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6400800" cy="6400800"/>
          </a:xfrm>
          <a:prstGeom prst="ellipse">
            <a:avLst/>
          </a:prstGeom>
          <a:solidFill>
            <a:srgbClr val="7C5CFF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3657600"/>
            <a:ext cx="5486400" cy="5486400"/>
          </a:xfrm>
          <a:prstGeom prst="ellipse">
            <a:avLst/>
          </a:prstGeom>
          <a:solidFill>
            <a:srgbClr val="5B3FD9">
              <a:alpha val="12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682932" y="1744980"/>
            <a:ext cx="822960" cy="822960"/>
          </a:xfrm>
          <a:prstGeom prst="ellipse">
            <a:avLst/>
          </a:prstGeom>
          <a:solidFill>
            <a:srgbClr val="7C5CFF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5"/>
          <p:cNvSpPr txBox="1"/>
          <p:nvPr/>
        </p:nvSpPr>
        <p:spPr>
          <a:xfrm>
            <a:off x="5682932" y="1767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2340" dirty="0"/>
          </a:p>
        </p:txBody>
      </p:sp>
      <p:sp>
        <p:nvSpPr>
          <p:cNvPr id="10" name="Text 6"/>
          <p:cNvSpPr txBox="1"/>
          <p:nvPr/>
        </p:nvSpPr>
        <p:spPr>
          <a:xfrm>
            <a:off x="725329" y="2778252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11" name="Text 7"/>
          <p:cNvSpPr txBox="1"/>
          <p:nvPr/>
        </p:nvSpPr>
        <p:spPr>
          <a:xfrm>
            <a:off x="1360962" y="3565779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C9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4893564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AetherMinds  ·  Dakshita Biwal · Raunak Mishra · Aman Singh · Chanda Kumari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1371600" y="534924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github.com/dakshita01/ai-startup-launchpad</a:t>
            </a:r>
            <a:endParaRPr lang="en-US" sz="1200" dirty="0"/>
          </a:p>
        </p:txBody>
      </p:sp>
      <p:sp>
        <p:nvSpPr>
          <p:cNvPr id="15" name="Shape 3">
            <a:extLst>
              <a:ext uri="{FF2B5EF4-FFF2-40B4-BE49-F238E27FC236}">
                <a16:creationId xmlns:a16="http://schemas.microsoft.com/office/drawing/2014/main" id="{EA9B57EC-870F-4DFD-9E76-2A497F636346}"/>
              </a:ext>
            </a:extLst>
          </p:cNvPr>
          <p:cNvSpPr/>
          <p:nvPr/>
        </p:nvSpPr>
        <p:spPr>
          <a:xfrm>
            <a:off x="725329" y="488823"/>
            <a:ext cx="1271269" cy="85725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D5245880-CCFD-74DE-FA49-18A518D6B6C1}"/>
              </a:ext>
            </a:extLst>
          </p:cNvPr>
          <p:cNvSpPr/>
          <p:nvPr/>
        </p:nvSpPr>
        <p:spPr>
          <a:xfrm>
            <a:off x="2388871" y="488823"/>
            <a:ext cx="1271269" cy="85725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4BA6CBC4-0E6A-1E30-C4E6-46B481715B44}"/>
              </a:ext>
            </a:extLst>
          </p:cNvPr>
          <p:cNvSpPr/>
          <p:nvPr/>
        </p:nvSpPr>
        <p:spPr>
          <a:xfrm>
            <a:off x="8673623" y="488823"/>
            <a:ext cx="1271269" cy="85725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21" name="Shape 3">
            <a:extLst>
              <a:ext uri="{FF2B5EF4-FFF2-40B4-BE49-F238E27FC236}">
                <a16:creationId xmlns:a16="http://schemas.microsoft.com/office/drawing/2014/main" id="{501D9322-0F67-D9C1-639A-F9843459B67C}"/>
              </a:ext>
            </a:extLst>
          </p:cNvPr>
          <p:cNvSpPr/>
          <p:nvPr/>
        </p:nvSpPr>
        <p:spPr>
          <a:xfrm>
            <a:off x="10337165" y="485775"/>
            <a:ext cx="1271269" cy="85725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98E10ED-6572-65F3-3BA2-890B5DC3C9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918" y="539115"/>
            <a:ext cx="962089" cy="75057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45F2169-023B-C3AB-97C7-BF1975C0C3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2877" y="577358"/>
            <a:ext cx="643255" cy="67408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7ED0E87-BF25-2163-F742-F5C2A11736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3623" y="588798"/>
            <a:ext cx="1271269" cy="657250"/>
          </a:xfrm>
          <a:prstGeom prst="rect">
            <a:avLst/>
          </a:prstGeom>
        </p:spPr>
      </p:pic>
      <p:pic>
        <p:nvPicPr>
          <p:cNvPr id="29" name="Image 2" descr="/home/claude/ibm_logo.png">
            <a:extLst>
              <a:ext uri="{FF2B5EF4-FFF2-40B4-BE49-F238E27FC236}">
                <a16:creationId xmlns:a16="http://schemas.microsoft.com/office/drawing/2014/main" id="{2E1192F7-6911-BC94-EE53-DCD88B92D1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2809" y="734949"/>
            <a:ext cx="2371249" cy="6080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1408</Words>
  <Application>Microsoft Office PowerPoint</Application>
  <PresentationFormat>Custom</PresentationFormat>
  <Paragraphs>355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Dakshita Biwal</cp:lastModifiedBy>
  <cp:revision>2</cp:revision>
  <dcterms:created xsi:type="dcterms:W3CDTF">2026-09-13T14:17:49Z</dcterms:created>
  <dcterms:modified xsi:type="dcterms:W3CDTF">2026-09-13T16:35:30Z</dcterms:modified>
</cp:coreProperties>
</file>